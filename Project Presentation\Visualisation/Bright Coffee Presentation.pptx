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2"/>
  </p:notesMasterIdLst>
  <p:sldIdLst>
    <p:sldId id="256" r:id="rId2"/>
    <p:sldId id="271" r:id="rId3"/>
    <p:sldId id="273" r:id="rId4"/>
    <p:sldId id="258" r:id="rId5"/>
    <p:sldId id="257" r:id="rId6"/>
    <p:sldId id="275" r:id="rId7"/>
    <p:sldId id="276" r:id="rId8"/>
    <p:sldId id="260" r:id="rId9"/>
    <p:sldId id="27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295E"/>
    <a:srgbClr val="7F7F7F"/>
    <a:srgbClr val="404040"/>
    <a:srgbClr val="A6A6A6"/>
    <a:srgbClr val="F2F2F2"/>
    <a:srgbClr val="BFBFBF"/>
    <a:srgbClr val="E37777"/>
    <a:srgbClr val="64A4CA"/>
    <a:srgbClr val="66C5F3"/>
    <a:srgbClr val="F2C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7AA2C4-D6B3-4129-9E06-91D7EF2F7FD7}" v="21" dt="2026-10-10T00:26:06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38" y="60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Tsoili" userId="cc3bcf80-654f-4ba1-a9a8-794a7a270914" providerId="ADAL" clId="{C19F53DE-84C1-4920-A193-28B9F397F1D2}"/>
    <pc:docChg chg="undo custSel addSld delSld modSld">
      <pc:chgData name="Jeffrey Tsoili" userId="cc3bcf80-654f-4ba1-a9a8-794a7a270914" providerId="ADAL" clId="{C19F53DE-84C1-4920-A193-28B9F397F1D2}" dt="2026-10-10T00:27:44.605" v="178" actId="2696"/>
      <pc:docMkLst>
        <pc:docMk/>
      </pc:docMkLst>
      <pc:sldChg chg="addSp delSp modSp mod">
        <pc:chgData name="Jeffrey Tsoili" userId="cc3bcf80-654f-4ba1-a9a8-794a7a270914" providerId="ADAL" clId="{C19F53DE-84C1-4920-A193-28B9F397F1D2}" dt="2026-10-10T00:12:49.535" v="48" actId="14100"/>
        <pc:sldMkLst>
          <pc:docMk/>
          <pc:sldMk cId="3427904300" sldId="257"/>
        </pc:sldMkLst>
        <pc:spChg chg="add del mod">
          <ac:chgData name="Jeffrey Tsoili" userId="cc3bcf80-654f-4ba1-a9a8-794a7a270914" providerId="ADAL" clId="{C19F53DE-84C1-4920-A193-28B9F397F1D2}" dt="2026-10-09T23:47:59.003" v="2"/>
          <ac:spMkLst>
            <pc:docMk/>
            <pc:sldMk cId="3427904300" sldId="257"/>
            <ac:spMk id="6" creationId="{0D407D2D-B883-8698-E51F-C49C6EBA8168}"/>
          </ac:spMkLst>
        </pc:spChg>
        <pc:spChg chg="add mod">
          <ac:chgData name="Jeffrey Tsoili" userId="cc3bcf80-654f-4ba1-a9a8-794a7a270914" providerId="ADAL" clId="{C19F53DE-84C1-4920-A193-28B9F397F1D2}" dt="2026-10-09T23:50:09.297" v="17" actId="1076"/>
          <ac:spMkLst>
            <pc:docMk/>
            <pc:sldMk cId="3427904300" sldId="257"/>
            <ac:spMk id="7" creationId="{C48EF828-FAB1-C17A-C328-AB79C4985B07}"/>
          </ac:spMkLst>
        </pc:spChg>
        <pc:spChg chg="add mod">
          <ac:chgData name="Jeffrey Tsoili" userId="cc3bcf80-654f-4ba1-a9a8-794a7a270914" providerId="ADAL" clId="{C19F53DE-84C1-4920-A193-28B9F397F1D2}" dt="2026-10-10T00:12:49.535" v="48" actId="14100"/>
          <ac:spMkLst>
            <pc:docMk/>
            <pc:sldMk cId="3427904300" sldId="257"/>
            <ac:spMk id="11" creationId="{A33E352E-12B1-ADE7-192B-64C23AE77BC4}"/>
          </ac:spMkLst>
        </pc:spChg>
        <pc:picChg chg="add del mod">
          <ac:chgData name="Jeffrey Tsoili" userId="cc3bcf80-654f-4ba1-a9a8-794a7a270914" providerId="ADAL" clId="{C19F53DE-84C1-4920-A193-28B9F397F1D2}" dt="2026-10-10T00:12:21.331" v="45" actId="478"/>
          <ac:picMkLst>
            <pc:docMk/>
            <pc:sldMk cId="3427904300" sldId="257"/>
            <ac:picMk id="9" creationId="{8D56031B-2F38-3874-69CE-6451CA21ACC4}"/>
          </ac:picMkLst>
        </pc:picChg>
      </pc:sldChg>
      <pc:sldChg chg="addSp delSp modSp mod">
        <pc:chgData name="Jeffrey Tsoili" userId="cc3bcf80-654f-4ba1-a9a8-794a7a270914" providerId="ADAL" clId="{C19F53DE-84C1-4920-A193-28B9F397F1D2}" dt="2026-10-10T00:26:36.323" v="174" actId="1076"/>
        <pc:sldMkLst>
          <pc:docMk/>
          <pc:sldMk cId="3371080236" sldId="260"/>
        </pc:sldMkLst>
        <pc:spChg chg="mod">
          <ac:chgData name="Jeffrey Tsoili" userId="cc3bcf80-654f-4ba1-a9a8-794a7a270914" providerId="ADAL" clId="{C19F53DE-84C1-4920-A193-28B9F397F1D2}" dt="2026-10-10T00:17:03.154" v="110" actId="20577"/>
          <ac:spMkLst>
            <pc:docMk/>
            <pc:sldMk cId="3371080236" sldId="260"/>
            <ac:spMk id="2" creationId="{24F19464-7408-4CB8-9C8D-6CAE84CA4FAD}"/>
          </ac:spMkLst>
        </pc:spChg>
        <pc:spChg chg="mod">
          <ac:chgData name="Jeffrey Tsoili" userId="cc3bcf80-654f-4ba1-a9a8-794a7a270914" providerId="ADAL" clId="{C19F53DE-84C1-4920-A193-28B9F397F1D2}" dt="2026-10-10T00:15:13.355" v="60" actId="1076"/>
          <ac:spMkLst>
            <pc:docMk/>
            <pc:sldMk cId="3371080236" sldId="260"/>
            <ac:spMk id="14" creationId="{20653043-9706-4A8F-99E2-518CA3BA8540}"/>
          </ac:spMkLst>
        </pc:spChg>
        <pc:spChg chg="add mod">
          <ac:chgData name="Jeffrey Tsoili" userId="cc3bcf80-654f-4ba1-a9a8-794a7a270914" providerId="ADAL" clId="{C19F53DE-84C1-4920-A193-28B9F397F1D2}" dt="2026-10-10T00:26:36.323" v="174" actId="1076"/>
          <ac:spMkLst>
            <pc:docMk/>
            <pc:sldMk cId="3371080236" sldId="260"/>
            <ac:spMk id="18" creationId="{B8D29A16-731C-12CE-1CFD-C3803957319E}"/>
          </ac:spMkLst>
        </pc:spChg>
        <pc:spChg chg="add del">
          <ac:chgData name="Jeffrey Tsoili" userId="cc3bcf80-654f-4ba1-a9a8-794a7a270914" providerId="ADAL" clId="{C19F53DE-84C1-4920-A193-28B9F397F1D2}" dt="2026-10-10T00:15:31.134" v="67" actId="478"/>
          <ac:spMkLst>
            <pc:docMk/>
            <pc:sldMk cId="3371080236" sldId="260"/>
            <ac:spMk id="22" creationId="{6BCE0B65-EA3A-426C-85CA-4043448BB9C7}"/>
          </ac:spMkLst>
        </pc:spChg>
        <pc:spChg chg="del">
          <ac:chgData name="Jeffrey Tsoili" userId="cc3bcf80-654f-4ba1-a9a8-794a7a270914" providerId="ADAL" clId="{C19F53DE-84C1-4920-A193-28B9F397F1D2}" dt="2026-10-10T00:15:34.131" v="68" actId="478"/>
          <ac:spMkLst>
            <pc:docMk/>
            <pc:sldMk cId="3371080236" sldId="260"/>
            <ac:spMk id="23" creationId="{E4ED3DF7-870D-4095-B720-456252545CFA}"/>
          </ac:spMkLst>
        </pc:spChg>
        <pc:spChg chg="add del">
          <ac:chgData name="Jeffrey Tsoili" userId="cc3bcf80-654f-4ba1-a9a8-794a7a270914" providerId="ADAL" clId="{C19F53DE-84C1-4920-A193-28B9F397F1D2}" dt="2026-10-10T00:15:36.493" v="69" actId="478"/>
          <ac:spMkLst>
            <pc:docMk/>
            <pc:sldMk cId="3371080236" sldId="260"/>
            <ac:spMk id="24" creationId="{397930D1-D889-4C98-9307-30DD9857B31B}"/>
          </ac:spMkLst>
        </pc:spChg>
        <pc:spChg chg="del">
          <ac:chgData name="Jeffrey Tsoili" userId="cc3bcf80-654f-4ba1-a9a8-794a7a270914" providerId="ADAL" clId="{C19F53DE-84C1-4920-A193-28B9F397F1D2}" dt="2026-10-10T00:15:43.499" v="72" actId="478"/>
          <ac:spMkLst>
            <pc:docMk/>
            <pc:sldMk cId="3371080236" sldId="260"/>
            <ac:spMk id="25" creationId="{45D69285-EE6C-45DF-95AC-EBA566A5FA92}"/>
          </ac:spMkLst>
        </pc:spChg>
        <pc:spChg chg="add del">
          <ac:chgData name="Jeffrey Tsoili" userId="cc3bcf80-654f-4ba1-a9a8-794a7a270914" providerId="ADAL" clId="{C19F53DE-84C1-4920-A193-28B9F397F1D2}" dt="2026-10-10T00:15:46.254" v="73" actId="478"/>
          <ac:spMkLst>
            <pc:docMk/>
            <pc:sldMk cId="3371080236" sldId="260"/>
            <ac:spMk id="27" creationId="{DF992E26-6825-42CE-8425-2CAA9340F6F3}"/>
          </ac:spMkLst>
        </pc:spChg>
        <pc:spChg chg="mod">
          <ac:chgData name="Jeffrey Tsoili" userId="cc3bcf80-654f-4ba1-a9a8-794a7a270914" providerId="ADAL" clId="{C19F53DE-84C1-4920-A193-28B9F397F1D2}" dt="2026-10-10T00:26:33.564" v="173" actId="1076"/>
          <ac:spMkLst>
            <pc:docMk/>
            <pc:sldMk cId="3371080236" sldId="260"/>
            <ac:spMk id="36" creationId="{ADD28621-C404-41A6-85D1-1C963A241234}"/>
          </ac:spMkLst>
        </pc:spChg>
        <pc:spChg chg="mod">
          <ac:chgData name="Jeffrey Tsoili" userId="cc3bcf80-654f-4ba1-a9a8-794a7a270914" providerId="ADAL" clId="{C19F53DE-84C1-4920-A193-28B9F397F1D2}" dt="2026-10-10T00:18:19.544" v="119" actId="6549"/>
          <ac:spMkLst>
            <pc:docMk/>
            <pc:sldMk cId="3371080236" sldId="260"/>
            <ac:spMk id="37" creationId="{CEDCE8FF-73B3-4C37-B751-F7E83288982A}"/>
          </ac:spMkLst>
        </pc:spChg>
        <pc:spChg chg="del mod">
          <ac:chgData name="Jeffrey Tsoili" userId="cc3bcf80-654f-4ba1-a9a8-794a7a270914" providerId="ADAL" clId="{C19F53DE-84C1-4920-A193-28B9F397F1D2}" dt="2026-10-10T00:21:38.918" v="152" actId="478"/>
          <ac:spMkLst>
            <pc:docMk/>
            <pc:sldMk cId="3371080236" sldId="260"/>
            <ac:spMk id="38" creationId="{468E2C47-3170-4264-A8DB-61C9DD65CB3F}"/>
          </ac:spMkLst>
        </pc:spChg>
        <pc:grpChg chg="add del">
          <ac:chgData name="Jeffrey Tsoili" userId="cc3bcf80-654f-4ba1-a9a8-794a7a270914" providerId="ADAL" clId="{C19F53DE-84C1-4920-A193-28B9F397F1D2}" dt="2026-10-10T00:15:27.773" v="66" actId="478"/>
          <ac:grpSpMkLst>
            <pc:docMk/>
            <pc:sldMk cId="3371080236" sldId="260"/>
            <ac:grpSpMk id="5" creationId="{BB558C64-5F19-44FD-B6CB-6995E80A6FA2}"/>
          </ac:grpSpMkLst>
        </pc:grpChg>
        <pc:grpChg chg="del">
          <ac:chgData name="Jeffrey Tsoili" userId="cc3bcf80-654f-4ba1-a9a8-794a7a270914" providerId="ADAL" clId="{C19F53DE-84C1-4920-A193-28B9F397F1D2}" dt="2026-10-10T00:15:41.643" v="71" actId="478"/>
          <ac:grpSpMkLst>
            <pc:docMk/>
            <pc:sldMk cId="3371080236" sldId="260"/>
            <ac:grpSpMk id="28" creationId="{5B5B605F-F62A-49BA-9079-509C90781CCE}"/>
          </ac:grpSpMkLst>
        </pc:grpChg>
        <pc:grpChg chg="del">
          <ac:chgData name="Jeffrey Tsoili" userId="cc3bcf80-654f-4ba1-a9a8-794a7a270914" providerId="ADAL" clId="{C19F53DE-84C1-4920-A193-28B9F397F1D2}" dt="2026-10-10T00:15:39.315" v="70" actId="478"/>
          <ac:grpSpMkLst>
            <pc:docMk/>
            <pc:sldMk cId="3371080236" sldId="260"/>
            <ac:grpSpMk id="33" creationId="{0E4DB52D-35BC-430D-BD17-CBC693E02466}"/>
          </ac:grpSpMkLst>
        </pc:grpChg>
        <pc:picChg chg="add del mod">
          <ac:chgData name="Jeffrey Tsoili" userId="cc3bcf80-654f-4ba1-a9a8-794a7a270914" providerId="ADAL" clId="{C19F53DE-84C1-4920-A193-28B9F397F1D2}" dt="2026-10-10T00:15:52.992" v="74" actId="1076"/>
          <ac:picMkLst>
            <pc:docMk/>
            <pc:sldMk cId="3371080236" sldId="260"/>
            <ac:picMk id="15" creationId="{00000000-0000-0000-0000-000000000000}"/>
          </ac:picMkLst>
        </pc:picChg>
      </pc:sldChg>
      <pc:sldChg chg="del">
        <pc:chgData name="Jeffrey Tsoili" userId="cc3bcf80-654f-4ba1-a9a8-794a7a270914" providerId="ADAL" clId="{C19F53DE-84C1-4920-A193-28B9F397F1D2}" dt="2026-10-10T00:27:35.354" v="176" actId="2696"/>
        <pc:sldMkLst>
          <pc:docMk/>
          <pc:sldMk cId="140775147" sldId="262"/>
        </pc:sldMkLst>
      </pc:sldChg>
      <pc:sldChg chg="del">
        <pc:chgData name="Jeffrey Tsoili" userId="cc3bcf80-654f-4ba1-a9a8-794a7a270914" providerId="ADAL" clId="{C19F53DE-84C1-4920-A193-28B9F397F1D2}" dt="2026-10-10T00:27:39.910" v="177" actId="2696"/>
        <pc:sldMkLst>
          <pc:docMk/>
          <pc:sldMk cId="3103490140" sldId="272"/>
        </pc:sldMkLst>
      </pc:sldChg>
      <pc:sldChg chg="del">
        <pc:chgData name="Jeffrey Tsoili" userId="cc3bcf80-654f-4ba1-a9a8-794a7a270914" providerId="ADAL" clId="{C19F53DE-84C1-4920-A193-28B9F397F1D2}" dt="2026-10-10T00:27:44.605" v="178" actId="2696"/>
        <pc:sldMkLst>
          <pc:docMk/>
          <pc:sldMk cId="182578246" sldId="274"/>
        </pc:sldMkLst>
      </pc:sldChg>
      <pc:sldChg chg="addSp modSp mod">
        <pc:chgData name="Jeffrey Tsoili" userId="cc3bcf80-654f-4ba1-a9a8-794a7a270914" providerId="ADAL" clId="{C19F53DE-84C1-4920-A193-28B9F397F1D2}" dt="2026-10-10T00:13:26.564" v="49" actId="22"/>
        <pc:sldMkLst>
          <pc:docMk/>
          <pc:sldMk cId="4039761013" sldId="275"/>
        </pc:sldMkLst>
        <pc:spChg chg="add mod">
          <ac:chgData name="Jeffrey Tsoili" userId="cc3bcf80-654f-4ba1-a9a8-794a7a270914" providerId="ADAL" clId="{C19F53DE-84C1-4920-A193-28B9F397F1D2}" dt="2026-10-10T00:05:35.928" v="29" actId="20577"/>
          <ac:spMkLst>
            <pc:docMk/>
            <pc:sldMk cId="4039761013" sldId="275"/>
            <ac:spMk id="4" creationId="{95A8F76F-B8B4-D5B6-1012-4DC40597C7EF}"/>
          </ac:spMkLst>
        </pc:spChg>
        <pc:spChg chg="add">
          <ac:chgData name="Jeffrey Tsoili" userId="cc3bcf80-654f-4ba1-a9a8-794a7a270914" providerId="ADAL" clId="{C19F53DE-84C1-4920-A193-28B9F397F1D2}" dt="2026-10-10T00:13:26.564" v="49" actId="22"/>
          <ac:spMkLst>
            <pc:docMk/>
            <pc:sldMk cId="4039761013" sldId="275"/>
            <ac:spMk id="7" creationId="{CAEF04FC-12AA-2369-6825-65FC9F1CF4BE}"/>
          </ac:spMkLst>
        </pc:spChg>
      </pc:sldChg>
      <pc:sldChg chg="addSp modSp mod">
        <pc:chgData name="Jeffrey Tsoili" userId="cc3bcf80-654f-4ba1-a9a8-794a7a270914" providerId="ADAL" clId="{C19F53DE-84C1-4920-A193-28B9F397F1D2}" dt="2026-10-10T00:13:36.802" v="50" actId="22"/>
        <pc:sldMkLst>
          <pc:docMk/>
          <pc:sldMk cId="359497594" sldId="276"/>
        </pc:sldMkLst>
        <pc:spChg chg="add mod">
          <ac:chgData name="Jeffrey Tsoili" userId="cc3bcf80-654f-4ba1-a9a8-794a7a270914" providerId="ADAL" clId="{C19F53DE-84C1-4920-A193-28B9F397F1D2}" dt="2026-10-10T00:11:17.137" v="42" actId="14100"/>
          <ac:spMkLst>
            <pc:docMk/>
            <pc:sldMk cId="359497594" sldId="276"/>
            <ac:spMk id="5" creationId="{C1342099-0D18-1DC1-5CA7-CB6DFF5C36DF}"/>
          </ac:spMkLst>
        </pc:spChg>
        <pc:spChg chg="add">
          <ac:chgData name="Jeffrey Tsoili" userId="cc3bcf80-654f-4ba1-a9a8-794a7a270914" providerId="ADAL" clId="{C19F53DE-84C1-4920-A193-28B9F397F1D2}" dt="2026-10-10T00:13:36.802" v="50" actId="22"/>
          <ac:spMkLst>
            <pc:docMk/>
            <pc:sldMk cId="359497594" sldId="276"/>
            <ac:spMk id="7" creationId="{DF99FAFC-AA2A-C6A4-2F3E-C28F87BDAA47}"/>
          </ac:spMkLst>
        </pc:spChg>
      </pc:sldChg>
      <pc:sldChg chg="add del">
        <pc:chgData name="Jeffrey Tsoili" userId="cc3bcf80-654f-4ba1-a9a8-794a7a270914" providerId="ADAL" clId="{C19F53DE-84C1-4920-A193-28B9F397F1D2}" dt="2026-10-10T00:27:27.175" v="175" actId="2696"/>
        <pc:sldMkLst>
          <pc:docMk/>
          <pc:sldMk cId="2128809597" sldId="277"/>
        </pc:sldMkLst>
      </pc:sldChg>
      <pc:sldChg chg="modSp add mod">
        <pc:chgData name="Jeffrey Tsoili" userId="cc3bcf80-654f-4ba1-a9a8-794a7a270914" providerId="ADAL" clId="{C19F53DE-84C1-4920-A193-28B9F397F1D2}" dt="2026-10-10T00:26:26.291" v="172" actId="1076"/>
        <pc:sldMkLst>
          <pc:docMk/>
          <pc:sldMk cId="4031698558" sldId="278"/>
        </pc:sldMkLst>
        <pc:spChg chg="mod">
          <ac:chgData name="Jeffrey Tsoili" userId="cc3bcf80-654f-4ba1-a9a8-794a7a270914" providerId="ADAL" clId="{C19F53DE-84C1-4920-A193-28B9F397F1D2}" dt="2026-10-10T00:26:26.291" v="172" actId="1076"/>
          <ac:spMkLst>
            <pc:docMk/>
            <pc:sldMk cId="4031698558" sldId="278"/>
            <ac:spMk id="18" creationId="{F5C85B4E-037B-D600-E7E6-23EED3A0FD7E}"/>
          </ac:spMkLst>
        </pc:spChg>
        <pc:spChg chg="mod">
          <ac:chgData name="Jeffrey Tsoili" userId="cc3bcf80-654f-4ba1-a9a8-794a7a270914" providerId="ADAL" clId="{C19F53DE-84C1-4920-A193-28B9F397F1D2}" dt="2026-10-10T00:26:22.508" v="171" actId="1076"/>
          <ac:spMkLst>
            <pc:docMk/>
            <pc:sldMk cId="4031698558" sldId="278"/>
            <ac:spMk id="36" creationId="{0212F094-93C7-8AEC-7ADE-86FD0D82BAD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E295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rgbClr val="7F7F7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rgbClr val="A6A6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Sheet1!$A$2:$A$5</c:f>
              <c:strCache>
                <c:ptCount val="4"/>
                <c:pt idx="0">
                  <c:v>Lorem Ipsum 01</c:v>
                </c:pt>
                <c:pt idx="1">
                  <c:v>Lorem Ipsum 02</c:v>
                </c:pt>
                <c:pt idx="2">
                  <c:v>Lorem Ipsum 03</c:v>
                </c:pt>
                <c:pt idx="3">
                  <c:v>Lorem Ipsum 04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023A0-2B54-4E79-AA20-143385AB9A6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DEA9-6F4F-4540-9E5D-C6F39079A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9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9626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9571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6350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4226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7D857A-3282-D82A-3095-B2322388A474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3986DC-23CC-75B5-6FA2-31C863C53B73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0910FB-A5D2-A2D0-395C-FEC794F8C1F5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FFF6CF0-206C-30B5-3D55-3195998FADD8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29ADD7-584B-823B-3F6D-DB928DE02761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653F9E7-F8F4-E0E0-1F1B-E25606D2F4AE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C5B6EA7-4DB6-CE38-C054-698DC0EE4046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1963B62-7201-4982-C5B9-7FA957DD8712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167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BFF5B-A106-782F-F66B-EE9C8D1CCB13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E8CE0-F31C-78DA-4F9A-72A87DEC08C6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EA749D-5753-6D09-568C-B0519AE03AEB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73448B-5A0A-146C-FA36-D34C1856E196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A7A0753-5D20-8D02-4674-FFF7493CE62C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9A08816-87D8-35FA-09BE-8950974CF368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998DFA8-73AC-DD44-7CE3-D22D865E29C7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CBACBB3-A1F3-587A-C889-AFC85EFB1309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952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7346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1244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1346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82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711938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7122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3500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548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49079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1180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Your Logo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39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8" b="5877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0207C-E81D-4E79-9654-07E51237BC3C}"/>
              </a:ext>
            </a:extLst>
          </p:cNvPr>
          <p:cNvSpPr/>
          <p:nvPr/>
        </p:nvSpPr>
        <p:spPr>
          <a:xfrm rot="18900000">
            <a:off x="9999285" y="328273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</a:extLst>
          </p:cNvPr>
          <p:cNvSpPr/>
          <p:nvPr/>
        </p:nvSpPr>
        <p:spPr>
          <a:xfrm rot="18900000">
            <a:off x="966781" y="417666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111C5-A78D-479B-8C31-7C75D54750E4}"/>
              </a:ext>
            </a:extLst>
          </p:cNvPr>
          <p:cNvSpPr/>
          <p:nvPr/>
        </p:nvSpPr>
        <p:spPr>
          <a:xfrm>
            <a:off x="360470" y="297509"/>
            <a:ext cx="11471060" cy="6262983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07CD1A-2477-48CA-8693-2133EA1C329A}"/>
              </a:ext>
            </a:extLst>
          </p:cNvPr>
          <p:cNvGrpSpPr/>
          <p:nvPr/>
        </p:nvGrpSpPr>
        <p:grpSpPr>
          <a:xfrm>
            <a:off x="4167698" y="1224091"/>
            <a:ext cx="3856603" cy="4409819"/>
            <a:chOff x="4167698" y="1500698"/>
            <a:chExt cx="3856603" cy="440981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5D1319-7BD4-47DE-B3DF-55B655BB34C4}"/>
                </a:ext>
              </a:extLst>
            </p:cNvPr>
            <p:cNvSpPr/>
            <p:nvPr/>
          </p:nvSpPr>
          <p:spPr>
            <a:xfrm rot="18900000">
              <a:off x="4167698" y="1500698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A6B26EE-CB0C-4C1C-981C-B7972827533E}"/>
                </a:ext>
              </a:extLst>
            </p:cNvPr>
            <p:cNvSpPr/>
            <p:nvPr/>
          </p:nvSpPr>
          <p:spPr>
            <a:xfrm rot="18900000">
              <a:off x="4167699" y="2053915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2575420" y="2926909"/>
            <a:ext cx="687739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Bright Coffee Shop Analysis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457E54-1FC4-4040-9DF5-1D27FD6BBD8C}"/>
              </a:ext>
            </a:extLst>
          </p:cNvPr>
          <p:cNvSpPr/>
          <p:nvPr/>
        </p:nvSpPr>
        <p:spPr>
          <a:xfrm rot="18900000">
            <a:off x="-6742765" y="-1434593"/>
            <a:ext cx="3681702" cy="3681702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FF3AA5-65B8-4250-9FA5-E730BA5D93C8}"/>
              </a:ext>
            </a:extLst>
          </p:cNvPr>
          <p:cNvSpPr/>
          <p:nvPr/>
        </p:nvSpPr>
        <p:spPr>
          <a:xfrm>
            <a:off x="9593942" y="5808574"/>
            <a:ext cx="2293258" cy="1049426"/>
          </a:xfrm>
          <a:custGeom>
            <a:avLst/>
            <a:gdLst>
              <a:gd name="connsiteX0" fmla="*/ 1146629 w 2293258"/>
              <a:gd name="connsiteY0" fmla="*/ 0 h 1049426"/>
              <a:gd name="connsiteX1" fmla="*/ 1312564 w 2293258"/>
              <a:gd name="connsiteY1" fmla="*/ 68733 h 1049426"/>
              <a:gd name="connsiteX2" fmla="*/ 2293258 w 2293258"/>
              <a:gd name="connsiteY2" fmla="*/ 1049426 h 1049426"/>
              <a:gd name="connsiteX3" fmla="*/ 0 w 2293258"/>
              <a:gd name="connsiteY3" fmla="*/ 1049426 h 1049426"/>
              <a:gd name="connsiteX4" fmla="*/ 980694 w 2293258"/>
              <a:gd name="connsiteY4" fmla="*/ 68733 h 1049426"/>
              <a:gd name="connsiteX5" fmla="*/ 1146629 w 2293258"/>
              <a:gd name="connsiteY5" fmla="*/ 0 h 10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3258" h="1049426">
                <a:moveTo>
                  <a:pt x="1146629" y="0"/>
                </a:moveTo>
                <a:cubicBezTo>
                  <a:pt x="1206686" y="0"/>
                  <a:pt x="1266742" y="22911"/>
                  <a:pt x="1312564" y="68733"/>
                </a:cubicBezTo>
                <a:lnTo>
                  <a:pt x="2293258" y="1049426"/>
                </a:lnTo>
                <a:lnTo>
                  <a:pt x="0" y="1049426"/>
                </a:lnTo>
                <a:lnTo>
                  <a:pt x="980694" y="68733"/>
                </a:lnTo>
                <a:cubicBezTo>
                  <a:pt x="1026516" y="22911"/>
                  <a:pt x="1086572" y="0"/>
                  <a:pt x="1146629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CD400-5AC0-46BA-AF0D-532EA062DDFE}"/>
              </a:ext>
            </a:extLst>
          </p:cNvPr>
          <p:cNvSpPr/>
          <p:nvPr/>
        </p:nvSpPr>
        <p:spPr>
          <a:xfrm>
            <a:off x="0" y="0"/>
            <a:ext cx="2739184" cy="2840643"/>
          </a:xfrm>
          <a:custGeom>
            <a:avLst/>
            <a:gdLst>
              <a:gd name="connsiteX0" fmla="*/ 0 w 2739184"/>
              <a:gd name="connsiteY0" fmla="*/ 0 h 2840643"/>
              <a:gd name="connsiteX1" fmla="*/ 2501897 w 2739184"/>
              <a:gd name="connsiteY1" fmla="*/ 0 h 2840643"/>
              <a:gd name="connsiteX2" fmla="*/ 2619703 w 2739184"/>
              <a:gd name="connsiteY2" fmla="*/ 117806 h 2840643"/>
              <a:gd name="connsiteX3" fmla="*/ 2619703 w 2739184"/>
              <a:gd name="connsiteY3" fmla="*/ 694710 h 2840643"/>
              <a:gd name="connsiteX4" fmla="*/ 593251 w 2739184"/>
              <a:gd name="connsiteY4" fmla="*/ 2721162 h 2840643"/>
              <a:gd name="connsiteX5" fmla="*/ 16347 w 2739184"/>
              <a:gd name="connsiteY5" fmla="*/ 2721162 h 2840643"/>
              <a:gd name="connsiteX6" fmla="*/ 0 w 2739184"/>
              <a:gd name="connsiteY6" fmla="*/ 2704815 h 2840643"/>
              <a:gd name="connsiteX7" fmla="*/ 0 w 2739184"/>
              <a:gd name="connsiteY7" fmla="*/ 0 h 28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9184" h="2840643">
                <a:moveTo>
                  <a:pt x="0" y="0"/>
                </a:moveTo>
                <a:lnTo>
                  <a:pt x="2501897" y="0"/>
                </a:lnTo>
                <a:lnTo>
                  <a:pt x="2619703" y="117806"/>
                </a:lnTo>
                <a:cubicBezTo>
                  <a:pt x="2779011" y="277113"/>
                  <a:pt x="2779011" y="535403"/>
                  <a:pt x="2619703" y="694710"/>
                </a:cubicBezTo>
                <a:lnTo>
                  <a:pt x="593251" y="2721162"/>
                </a:lnTo>
                <a:cubicBezTo>
                  <a:pt x="433944" y="2880470"/>
                  <a:pt x="175654" y="2880470"/>
                  <a:pt x="16347" y="2721162"/>
                </a:cubicBezTo>
                <a:lnTo>
                  <a:pt x="0" y="27048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4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243" y="240365"/>
            <a:ext cx="10515600" cy="74789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Bright Coffee Shop at a Glance</a:t>
            </a:r>
            <a:br>
              <a:rPr lang="en-US" dirty="0"/>
            </a:b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691243" y="2485159"/>
            <a:ext cx="9655628" cy="2861042"/>
            <a:chOff x="1537608" y="2065564"/>
            <a:chExt cx="9429749" cy="22895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1550221-8258-42F2-8C5D-7698C3085D53}"/>
                </a:ext>
              </a:extLst>
            </p:cNvPr>
            <p:cNvGrpSpPr/>
            <p:nvPr/>
          </p:nvGrpSpPr>
          <p:grpSpPr>
            <a:xfrm>
              <a:off x="1537608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ADA208-E23E-4B7A-8B30-503644571020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698812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5AF9DE5-C8D3-43F1-8647-AA7713F1FCEF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Total Revenue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1550221-8258-42F2-8C5D-7698C3085D53}"/>
                </a:ext>
              </a:extLst>
            </p:cNvPr>
            <p:cNvGrpSpPr/>
            <p:nvPr/>
          </p:nvGrpSpPr>
          <p:grpSpPr>
            <a:xfrm>
              <a:off x="4705350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DADA208-E23E-4B7A-8B30-503644571020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9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5AF9DE5-C8D3-43F1-8647-AA7713F1FCEF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Products Category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1550221-8258-42F2-8C5D-7698C3085D53}"/>
                </a:ext>
              </a:extLst>
            </p:cNvPr>
            <p:cNvGrpSpPr/>
            <p:nvPr/>
          </p:nvGrpSpPr>
          <p:grpSpPr>
            <a:xfrm>
              <a:off x="8186058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DADA208-E23E-4B7A-8B30-503644571020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3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AF9DE5-C8D3-43F1-8647-AA7713F1FCEF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Store Locations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8139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69351-9793-27A9-D193-5ACBAA02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8687-7A12-355C-13A5-4F4B48F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43" y="240365"/>
            <a:ext cx="10515600" cy="74789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Bright Coffee Shop at a Glance</a:t>
            </a:r>
            <a:br>
              <a:rPr lang="en-US" dirty="0"/>
            </a:b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7D0D-46E7-B6A1-CC8A-1E93DF20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DAA6A7-F071-D230-E209-95E5DB9853B2}"/>
              </a:ext>
            </a:extLst>
          </p:cNvPr>
          <p:cNvGrpSpPr/>
          <p:nvPr/>
        </p:nvGrpSpPr>
        <p:grpSpPr>
          <a:xfrm>
            <a:off x="691243" y="2485159"/>
            <a:ext cx="9655628" cy="2861042"/>
            <a:chOff x="1537608" y="2065564"/>
            <a:chExt cx="9429749" cy="22895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C3AFACC-9D3E-E578-97C1-B0B12C42985A}"/>
                </a:ext>
              </a:extLst>
            </p:cNvPr>
            <p:cNvGrpSpPr/>
            <p:nvPr/>
          </p:nvGrpSpPr>
          <p:grpSpPr>
            <a:xfrm>
              <a:off x="1537608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56FFBBA-2F16-2257-077A-F4D2659F5EB5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149116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5D29FA-6080-88AF-D929-E0ADC5881FE5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Units Sold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30E56E-0BDD-F0F0-B5A3-D092623712A2}"/>
                </a:ext>
              </a:extLst>
            </p:cNvPr>
            <p:cNvGrpSpPr/>
            <p:nvPr/>
          </p:nvGrpSpPr>
          <p:grpSpPr>
            <a:xfrm>
              <a:off x="4705350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1939E9-8878-375A-CD82-A759B1B10776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29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C84885D-8A61-1056-EE65-990FD51AE272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Products Types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5D12F78-EAE9-F649-6E0A-B3343ACAA615}"/>
                </a:ext>
              </a:extLst>
            </p:cNvPr>
            <p:cNvGrpSpPr/>
            <p:nvPr/>
          </p:nvGrpSpPr>
          <p:grpSpPr>
            <a:xfrm>
              <a:off x="8186058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F4D552E-1169-BF4A-E37D-87CE18736226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1,44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E236C30-4D2F-AF6C-AA1C-76F9E22A8726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Average Order Value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56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517C826-C471-4169-9892-EEBF4B4D8645}"/>
              </a:ext>
            </a:extLst>
          </p:cNvPr>
          <p:cNvSpPr/>
          <p:nvPr/>
        </p:nvSpPr>
        <p:spPr>
          <a:xfrm>
            <a:off x="304800" y="1687232"/>
            <a:ext cx="5257344" cy="4275007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81D706E-E15A-45F0-9055-C455145F0A7C}"/>
              </a:ext>
            </a:extLst>
          </p:cNvPr>
          <p:cNvSpPr/>
          <p:nvPr/>
        </p:nvSpPr>
        <p:spPr>
          <a:xfrm>
            <a:off x="4942738" y="406322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28B89D6-D457-43D1-99F9-B86C5647AEB2}"/>
              </a:ext>
            </a:extLst>
          </p:cNvPr>
          <p:cNvSpPr/>
          <p:nvPr/>
        </p:nvSpPr>
        <p:spPr>
          <a:xfrm>
            <a:off x="4942738" y="5251216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16FB6B7-1CB4-4813-99A3-137C82BE19D1}"/>
              </a:ext>
            </a:extLst>
          </p:cNvPr>
          <p:cNvSpPr/>
          <p:nvPr/>
        </p:nvSpPr>
        <p:spPr>
          <a:xfrm>
            <a:off x="4942738" y="2875227"/>
            <a:ext cx="6101297" cy="711023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50DE9D8-FD82-4684-9ED8-826B4EC01B44}"/>
              </a:ext>
            </a:extLst>
          </p:cNvPr>
          <p:cNvSpPr/>
          <p:nvPr/>
        </p:nvSpPr>
        <p:spPr>
          <a:xfrm>
            <a:off x="4942738" y="168723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25" y="384808"/>
            <a:ext cx="10492596" cy="705576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Logo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06FB1C6-A882-4BAA-8733-7662E3996C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545048"/>
              </p:ext>
            </p:extLst>
          </p:nvPr>
        </p:nvGraphicFramePr>
        <p:xfrm>
          <a:off x="749625" y="2041702"/>
          <a:ext cx="3781664" cy="3526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A35CE616-64EE-4786-BC53-A3398F142D45}"/>
              </a:ext>
            </a:extLst>
          </p:cNvPr>
          <p:cNvSpPr/>
          <p:nvPr/>
        </p:nvSpPr>
        <p:spPr>
          <a:xfrm>
            <a:off x="1545852" y="2710558"/>
            <a:ext cx="2189210" cy="21892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8D74CDE-9215-466C-A65F-88C6021F08D5}"/>
              </a:ext>
            </a:extLst>
          </p:cNvPr>
          <p:cNvSpPr/>
          <p:nvPr/>
        </p:nvSpPr>
        <p:spPr>
          <a:xfrm rot="16200000" flipH="1">
            <a:off x="3031392" y="3398122"/>
            <a:ext cx="4635087" cy="8068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st="25400" algn="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217AA4-5B01-4C74-81C0-F0B9128B6845}"/>
              </a:ext>
            </a:extLst>
          </p:cNvPr>
          <p:cNvSpPr/>
          <p:nvPr/>
        </p:nvSpPr>
        <p:spPr>
          <a:xfrm rot="16200000" flipH="1">
            <a:off x="3028618" y="3398121"/>
            <a:ext cx="4635094" cy="8068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st="50800" dir="10800000" algn="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630BF0-C64E-4E93-A9CA-5E2A05DEE2A2}"/>
              </a:ext>
            </a:extLst>
          </p:cNvPr>
          <p:cNvSpPr/>
          <p:nvPr/>
        </p:nvSpPr>
        <p:spPr>
          <a:xfrm rot="16200000" flipH="1">
            <a:off x="2772874" y="3421309"/>
            <a:ext cx="5152128" cy="8068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1" name="TextBox 47">
            <a:extLst>
              <a:ext uri="{FF2B5EF4-FFF2-40B4-BE49-F238E27FC236}">
                <a16:creationId xmlns:a16="http://schemas.microsoft.com/office/drawing/2014/main" id="{0ABCF938-7F69-41DA-A492-F98171623883}"/>
              </a:ext>
            </a:extLst>
          </p:cNvPr>
          <p:cNvSpPr txBox="1"/>
          <p:nvPr/>
        </p:nvSpPr>
        <p:spPr>
          <a:xfrm>
            <a:off x="5973593" y="1933979"/>
            <a:ext cx="39895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400" dirty="0">
                <a:solidFill>
                  <a:schemeClr val="bg1"/>
                </a:solidFill>
              </a:rPr>
              <a:t>Which products generate the most revenue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A4FE373-17BB-493F-A361-B12440813A1F}"/>
              </a:ext>
            </a:extLst>
          </p:cNvPr>
          <p:cNvSpPr/>
          <p:nvPr/>
        </p:nvSpPr>
        <p:spPr>
          <a:xfrm>
            <a:off x="10374600" y="1755645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Box 47">
            <a:extLst>
              <a:ext uri="{FF2B5EF4-FFF2-40B4-BE49-F238E27FC236}">
                <a16:creationId xmlns:a16="http://schemas.microsoft.com/office/drawing/2014/main" id="{939B7CC5-439E-403C-9383-8988F3AAD7AF}"/>
              </a:ext>
            </a:extLst>
          </p:cNvPr>
          <p:cNvSpPr txBox="1"/>
          <p:nvPr/>
        </p:nvSpPr>
        <p:spPr>
          <a:xfrm>
            <a:off x="5973593" y="3124060"/>
            <a:ext cx="39895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400" dirty="0">
                <a:solidFill>
                  <a:schemeClr val="bg1"/>
                </a:solidFill>
              </a:rPr>
              <a:t>What time of day the store performs best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5ECD4C0-D89D-49E9-AC09-4F34CDD54EDB}"/>
              </a:ext>
            </a:extLst>
          </p:cNvPr>
          <p:cNvSpPr/>
          <p:nvPr/>
        </p:nvSpPr>
        <p:spPr>
          <a:xfrm>
            <a:off x="10374600" y="294572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47">
            <a:extLst>
              <a:ext uri="{FF2B5EF4-FFF2-40B4-BE49-F238E27FC236}">
                <a16:creationId xmlns:a16="http://schemas.microsoft.com/office/drawing/2014/main" id="{BBF4A77D-999A-446C-A470-A09EABC1CB5F}"/>
              </a:ext>
            </a:extLst>
          </p:cNvPr>
          <p:cNvSpPr txBox="1"/>
          <p:nvPr/>
        </p:nvSpPr>
        <p:spPr>
          <a:xfrm>
            <a:off x="5973593" y="4314120"/>
            <a:ext cx="39895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400" dirty="0">
                <a:solidFill>
                  <a:schemeClr val="bg1"/>
                </a:solidFill>
              </a:rPr>
              <a:t>Sales trends across products and time intervals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9C20A2B-9E5F-4699-B7E0-C92C4B4C11C6}"/>
              </a:ext>
            </a:extLst>
          </p:cNvPr>
          <p:cNvSpPr/>
          <p:nvPr/>
        </p:nvSpPr>
        <p:spPr>
          <a:xfrm>
            <a:off x="10374600" y="413578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47">
            <a:extLst>
              <a:ext uri="{FF2B5EF4-FFF2-40B4-BE49-F238E27FC236}">
                <a16:creationId xmlns:a16="http://schemas.microsoft.com/office/drawing/2014/main" id="{5CB8E5D9-5AB2-4AEE-973D-2AB9CE05AF2D}"/>
              </a:ext>
            </a:extLst>
          </p:cNvPr>
          <p:cNvSpPr txBox="1"/>
          <p:nvPr/>
        </p:nvSpPr>
        <p:spPr>
          <a:xfrm>
            <a:off x="5981757" y="5393965"/>
            <a:ext cx="3989558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400" dirty="0">
                <a:solidFill>
                  <a:schemeClr val="bg1"/>
                </a:solidFill>
              </a:rPr>
              <a:t>Recommendations for improving sales performance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3DF543E-D479-4828-BA2F-2A24D956B7A2}"/>
              </a:ext>
            </a:extLst>
          </p:cNvPr>
          <p:cNvSpPr/>
          <p:nvPr/>
        </p:nvSpPr>
        <p:spPr>
          <a:xfrm>
            <a:off x="10374600" y="5323352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3073">
            <a:extLst>
              <a:ext uri="{FF2B5EF4-FFF2-40B4-BE49-F238E27FC236}">
                <a16:creationId xmlns:a16="http://schemas.microsoft.com/office/drawing/2014/main" id="{DB30C37B-BB33-491D-A3BF-5C500776BA50}"/>
              </a:ext>
            </a:extLst>
          </p:cNvPr>
          <p:cNvSpPr>
            <a:spLocks noEditPoints="1"/>
          </p:cNvSpPr>
          <p:nvPr/>
        </p:nvSpPr>
        <p:spPr bwMode="auto">
          <a:xfrm>
            <a:off x="10517781" y="1898826"/>
            <a:ext cx="285750" cy="285750"/>
          </a:xfrm>
          <a:custGeom>
            <a:avLst/>
            <a:gdLst>
              <a:gd name="T0" fmla="*/ 620 w 720"/>
              <a:gd name="T1" fmla="*/ 289 h 719"/>
              <a:gd name="T2" fmla="*/ 600 w 720"/>
              <a:gd name="T3" fmla="*/ 278 h 719"/>
              <a:gd name="T4" fmla="*/ 636 w 720"/>
              <a:gd name="T5" fmla="*/ 145 h 719"/>
              <a:gd name="T6" fmla="*/ 695 w 720"/>
              <a:gd name="T7" fmla="*/ 114 h 719"/>
              <a:gd name="T8" fmla="*/ 680 w 720"/>
              <a:gd name="T9" fmla="*/ 209 h 719"/>
              <a:gd name="T10" fmla="*/ 645 w 720"/>
              <a:gd name="T11" fmla="*/ 270 h 719"/>
              <a:gd name="T12" fmla="*/ 425 w 720"/>
              <a:gd name="T13" fmla="*/ 278 h 719"/>
              <a:gd name="T14" fmla="*/ 416 w 720"/>
              <a:gd name="T15" fmla="*/ 280 h 719"/>
              <a:gd name="T16" fmla="*/ 298 w 720"/>
              <a:gd name="T17" fmla="*/ 282 h 719"/>
              <a:gd name="T18" fmla="*/ 261 w 720"/>
              <a:gd name="T19" fmla="*/ 160 h 719"/>
              <a:gd name="T20" fmla="*/ 332 w 720"/>
              <a:gd name="T21" fmla="*/ 150 h 719"/>
              <a:gd name="T22" fmla="*/ 364 w 720"/>
              <a:gd name="T23" fmla="*/ 101 h 719"/>
              <a:gd name="T24" fmla="*/ 462 w 720"/>
              <a:gd name="T25" fmla="*/ 158 h 719"/>
              <a:gd name="T26" fmla="*/ 49 w 720"/>
              <a:gd name="T27" fmla="*/ 236 h 719"/>
              <a:gd name="T28" fmla="*/ 29 w 720"/>
              <a:gd name="T29" fmla="*/ 170 h 719"/>
              <a:gd name="T30" fmla="*/ 24 w 720"/>
              <a:gd name="T31" fmla="*/ 72 h 719"/>
              <a:gd name="T32" fmla="*/ 90 w 720"/>
              <a:gd name="T33" fmla="*/ 177 h 719"/>
              <a:gd name="T34" fmla="*/ 129 w 720"/>
              <a:gd name="T35" fmla="*/ 298 h 719"/>
              <a:gd name="T36" fmla="*/ 91 w 720"/>
              <a:gd name="T37" fmla="*/ 284 h 719"/>
              <a:gd name="T38" fmla="*/ 719 w 720"/>
              <a:gd name="T39" fmla="*/ 69 h 719"/>
              <a:gd name="T40" fmla="*/ 712 w 720"/>
              <a:gd name="T41" fmla="*/ 50 h 719"/>
              <a:gd name="T42" fmla="*/ 644 w 720"/>
              <a:gd name="T43" fmla="*/ 21 h 719"/>
              <a:gd name="T44" fmla="*/ 632 w 720"/>
              <a:gd name="T45" fmla="*/ 0 h 719"/>
              <a:gd name="T46" fmla="*/ 77 w 720"/>
              <a:gd name="T47" fmla="*/ 13 h 719"/>
              <a:gd name="T48" fmla="*/ 12 w 720"/>
              <a:gd name="T49" fmla="*/ 48 h 719"/>
              <a:gd name="T50" fmla="*/ 0 w 720"/>
              <a:gd name="T51" fmla="*/ 66 h 719"/>
              <a:gd name="T52" fmla="*/ 6 w 720"/>
              <a:gd name="T53" fmla="*/ 177 h 719"/>
              <a:gd name="T54" fmla="*/ 29 w 720"/>
              <a:gd name="T55" fmla="*/ 250 h 719"/>
              <a:gd name="T56" fmla="*/ 73 w 720"/>
              <a:gd name="T57" fmla="*/ 302 h 719"/>
              <a:gd name="T58" fmla="*/ 130 w 720"/>
              <a:gd name="T59" fmla="*/ 322 h 719"/>
              <a:gd name="T60" fmla="*/ 195 w 720"/>
              <a:gd name="T61" fmla="*/ 379 h 719"/>
              <a:gd name="T62" fmla="*/ 288 w 720"/>
              <a:gd name="T63" fmla="*/ 441 h 719"/>
              <a:gd name="T64" fmla="*/ 312 w 720"/>
              <a:gd name="T65" fmla="*/ 476 h 719"/>
              <a:gd name="T66" fmla="*/ 316 w 720"/>
              <a:gd name="T67" fmla="*/ 529 h 719"/>
              <a:gd name="T68" fmla="*/ 299 w 720"/>
              <a:gd name="T69" fmla="*/ 596 h 719"/>
              <a:gd name="T70" fmla="*/ 262 w 720"/>
              <a:gd name="T71" fmla="*/ 628 h 719"/>
              <a:gd name="T72" fmla="*/ 204 w 720"/>
              <a:gd name="T73" fmla="*/ 635 h 719"/>
              <a:gd name="T74" fmla="*/ 192 w 720"/>
              <a:gd name="T75" fmla="*/ 707 h 719"/>
              <a:gd name="T76" fmla="*/ 515 w 720"/>
              <a:gd name="T77" fmla="*/ 719 h 719"/>
              <a:gd name="T78" fmla="*/ 527 w 720"/>
              <a:gd name="T79" fmla="*/ 647 h 719"/>
              <a:gd name="T80" fmla="*/ 501 w 720"/>
              <a:gd name="T81" fmla="*/ 635 h 719"/>
              <a:gd name="T82" fmla="*/ 445 w 720"/>
              <a:gd name="T83" fmla="*/ 618 h 719"/>
              <a:gd name="T84" fmla="*/ 412 w 720"/>
              <a:gd name="T85" fmla="*/ 577 h 719"/>
              <a:gd name="T86" fmla="*/ 401 w 720"/>
              <a:gd name="T87" fmla="*/ 511 h 719"/>
              <a:gd name="T88" fmla="*/ 410 w 720"/>
              <a:gd name="T89" fmla="*/ 470 h 719"/>
              <a:gd name="T90" fmla="*/ 443 w 720"/>
              <a:gd name="T91" fmla="*/ 431 h 719"/>
              <a:gd name="T92" fmla="*/ 537 w 720"/>
              <a:gd name="T93" fmla="*/ 367 h 719"/>
              <a:gd name="T94" fmla="*/ 601 w 720"/>
              <a:gd name="T95" fmla="*/ 321 h 719"/>
              <a:gd name="T96" fmla="*/ 653 w 720"/>
              <a:gd name="T97" fmla="*/ 295 h 719"/>
              <a:gd name="T98" fmla="*/ 696 w 720"/>
              <a:gd name="T99" fmla="*/ 233 h 719"/>
              <a:gd name="T100" fmla="*/ 718 w 720"/>
              <a:gd name="T101" fmla="*/ 141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0" h="719">
                <a:moveTo>
                  <a:pt x="645" y="270"/>
                </a:moveTo>
                <a:lnTo>
                  <a:pt x="640" y="276"/>
                </a:lnTo>
                <a:lnTo>
                  <a:pt x="633" y="280"/>
                </a:lnTo>
                <a:lnTo>
                  <a:pt x="627" y="284"/>
                </a:lnTo>
                <a:lnTo>
                  <a:pt x="620" y="289"/>
                </a:lnTo>
                <a:lnTo>
                  <a:pt x="614" y="291"/>
                </a:lnTo>
                <a:lnTo>
                  <a:pt x="606" y="295"/>
                </a:lnTo>
                <a:lnTo>
                  <a:pt x="599" y="296"/>
                </a:lnTo>
                <a:lnTo>
                  <a:pt x="590" y="298"/>
                </a:lnTo>
                <a:lnTo>
                  <a:pt x="600" y="278"/>
                </a:lnTo>
                <a:lnTo>
                  <a:pt x="609" y="257"/>
                </a:lnTo>
                <a:lnTo>
                  <a:pt x="618" y="233"/>
                </a:lnTo>
                <a:lnTo>
                  <a:pt x="625" y="207"/>
                </a:lnTo>
                <a:lnTo>
                  <a:pt x="631" y="177"/>
                </a:lnTo>
                <a:lnTo>
                  <a:pt x="636" y="145"/>
                </a:lnTo>
                <a:lnTo>
                  <a:pt x="639" y="110"/>
                </a:lnTo>
                <a:lnTo>
                  <a:pt x="643" y="72"/>
                </a:lnTo>
                <a:lnTo>
                  <a:pt x="695" y="72"/>
                </a:lnTo>
                <a:lnTo>
                  <a:pt x="695" y="90"/>
                </a:lnTo>
                <a:lnTo>
                  <a:pt x="695" y="114"/>
                </a:lnTo>
                <a:lnTo>
                  <a:pt x="694" y="140"/>
                </a:lnTo>
                <a:lnTo>
                  <a:pt x="690" y="167"/>
                </a:lnTo>
                <a:lnTo>
                  <a:pt x="687" y="182"/>
                </a:lnTo>
                <a:lnTo>
                  <a:pt x="684" y="196"/>
                </a:lnTo>
                <a:lnTo>
                  <a:pt x="680" y="209"/>
                </a:lnTo>
                <a:lnTo>
                  <a:pt x="675" y="223"/>
                </a:lnTo>
                <a:lnTo>
                  <a:pt x="669" y="236"/>
                </a:lnTo>
                <a:lnTo>
                  <a:pt x="662" y="248"/>
                </a:lnTo>
                <a:lnTo>
                  <a:pt x="655" y="259"/>
                </a:lnTo>
                <a:lnTo>
                  <a:pt x="645" y="270"/>
                </a:lnTo>
                <a:lnTo>
                  <a:pt x="645" y="270"/>
                </a:lnTo>
                <a:close/>
                <a:moveTo>
                  <a:pt x="460" y="160"/>
                </a:moveTo>
                <a:lnTo>
                  <a:pt x="402" y="205"/>
                </a:lnTo>
                <a:lnTo>
                  <a:pt x="425" y="273"/>
                </a:lnTo>
                <a:lnTo>
                  <a:pt x="425" y="278"/>
                </a:lnTo>
                <a:lnTo>
                  <a:pt x="424" y="280"/>
                </a:lnTo>
                <a:lnTo>
                  <a:pt x="421" y="282"/>
                </a:lnTo>
                <a:lnTo>
                  <a:pt x="420" y="282"/>
                </a:lnTo>
                <a:lnTo>
                  <a:pt x="418" y="282"/>
                </a:lnTo>
                <a:lnTo>
                  <a:pt x="416" y="280"/>
                </a:lnTo>
                <a:lnTo>
                  <a:pt x="360" y="235"/>
                </a:lnTo>
                <a:lnTo>
                  <a:pt x="304" y="280"/>
                </a:lnTo>
                <a:lnTo>
                  <a:pt x="303" y="282"/>
                </a:lnTo>
                <a:lnTo>
                  <a:pt x="300" y="282"/>
                </a:lnTo>
                <a:lnTo>
                  <a:pt x="298" y="282"/>
                </a:lnTo>
                <a:lnTo>
                  <a:pt x="297" y="280"/>
                </a:lnTo>
                <a:lnTo>
                  <a:pt x="294" y="278"/>
                </a:lnTo>
                <a:lnTo>
                  <a:pt x="294" y="273"/>
                </a:lnTo>
                <a:lnTo>
                  <a:pt x="317" y="205"/>
                </a:lnTo>
                <a:lnTo>
                  <a:pt x="261" y="160"/>
                </a:lnTo>
                <a:lnTo>
                  <a:pt x="259" y="158"/>
                </a:lnTo>
                <a:lnTo>
                  <a:pt x="259" y="154"/>
                </a:lnTo>
                <a:lnTo>
                  <a:pt x="261" y="151"/>
                </a:lnTo>
                <a:lnTo>
                  <a:pt x="264" y="150"/>
                </a:lnTo>
                <a:lnTo>
                  <a:pt x="332" y="150"/>
                </a:lnTo>
                <a:lnTo>
                  <a:pt x="354" y="101"/>
                </a:lnTo>
                <a:lnTo>
                  <a:pt x="356" y="97"/>
                </a:lnTo>
                <a:lnTo>
                  <a:pt x="358" y="97"/>
                </a:lnTo>
                <a:lnTo>
                  <a:pt x="362" y="97"/>
                </a:lnTo>
                <a:lnTo>
                  <a:pt x="364" y="101"/>
                </a:lnTo>
                <a:lnTo>
                  <a:pt x="388" y="150"/>
                </a:lnTo>
                <a:lnTo>
                  <a:pt x="456" y="150"/>
                </a:lnTo>
                <a:lnTo>
                  <a:pt x="460" y="151"/>
                </a:lnTo>
                <a:lnTo>
                  <a:pt x="462" y="154"/>
                </a:lnTo>
                <a:lnTo>
                  <a:pt x="462" y="158"/>
                </a:lnTo>
                <a:lnTo>
                  <a:pt x="460" y="160"/>
                </a:lnTo>
                <a:close/>
                <a:moveTo>
                  <a:pt x="72" y="270"/>
                </a:moveTo>
                <a:lnTo>
                  <a:pt x="63" y="260"/>
                </a:lnTo>
                <a:lnTo>
                  <a:pt x="55" y="248"/>
                </a:lnTo>
                <a:lnTo>
                  <a:pt x="49" y="236"/>
                </a:lnTo>
                <a:lnTo>
                  <a:pt x="43" y="225"/>
                </a:lnTo>
                <a:lnTo>
                  <a:pt x="38" y="211"/>
                </a:lnTo>
                <a:lnTo>
                  <a:pt x="35" y="198"/>
                </a:lnTo>
                <a:lnTo>
                  <a:pt x="31" y="184"/>
                </a:lnTo>
                <a:lnTo>
                  <a:pt x="29" y="170"/>
                </a:lnTo>
                <a:lnTo>
                  <a:pt x="27" y="142"/>
                </a:lnTo>
                <a:lnTo>
                  <a:pt x="24" y="116"/>
                </a:lnTo>
                <a:lnTo>
                  <a:pt x="24" y="9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78" y="72"/>
                </a:lnTo>
                <a:lnTo>
                  <a:pt x="80" y="110"/>
                </a:lnTo>
                <a:lnTo>
                  <a:pt x="85" y="145"/>
                </a:lnTo>
                <a:lnTo>
                  <a:pt x="90" y="177"/>
                </a:lnTo>
                <a:lnTo>
                  <a:pt x="96" y="207"/>
                </a:lnTo>
                <a:lnTo>
                  <a:pt x="103" y="233"/>
                </a:lnTo>
                <a:lnTo>
                  <a:pt x="111" y="257"/>
                </a:lnTo>
                <a:lnTo>
                  <a:pt x="119" y="278"/>
                </a:lnTo>
                <a:lnTo>
                  <a:pt x="129" y="298"/>
                </a:lnTo>
                <a:lnTo>
                  <a:pt x="121" y="296"/>
                </a:lnTo>
                <a:lnTo>
                  <a:pt x="112" y="295"/>
                </a:lnTo>
                <a:lnTo>
                  <a:pt x="105" y="291"/>
                </a:lnTo>
                <a:lnTo>
                  <a:pt x="98" y="289"/>
                </a:lnTo>
                <a:lnTo>
                  <a:pt x="91" y="284"/>
                </a:lnTo>
                <a:lnTo>
                  <a:pt x="84" y="280"/>
                </a:lnTo>
                <a:lnTo>
                  <a:pt x="78" y="276"/>
                </a:lnTo>
                <a:lnTo>
                  <a:pt x="72" y="270"/>
                </a:lnTo>
                <a:lnTo>
                  <a:pt x="72" y="270"/>
                </a:lnTo>
                <a:close/>
                <a:moveTo>
                  <a:pt x="719" y="69"/>
                </a:moveTo>
                <a:lnTo>
                  <a:pt x="719" y="64"/>
                </a:lnTo>
                <a:lnTo>
                  <a:pt x="719" y="60"/>
                </a:lnTo>
                <a:lnTo>
                  <a:pt x="719" y="56"/>
                </a:lnTo>
                <a:lnTo>
                  <a:pt x="715" y="52"/>
                </a:lnTo>
                <a:lnTo>
                  <a:pt x="712" y="50"/>
                </a:lnTo>
                <a:lnTo>
                  <a:pt x="707" y="48"/>
                </a:lnTo>
                <a:lnTo>
                  <a:pt x="643" y="48"/>
                </a:lnTo>
                <a:lnTo>
                  <a:pt x="644" y="39"/>
                </a:lnTo>
                <a:lnTo>
                  <a:pt x="644" y="31"/>
                </a:lnTo>
                <a:lnTo>
                  <a:pt x="644" y="21"/>
                </a:lnTo>
                <a:lnTo>
                  <a:pt x="644" y="13"/>
                </a:lnTo>
                <a:lnTo>
                  <a:pt x="643" y="8"/>
                </a:lnTo>
                <a:lnTo>
                  <a:pt x="640" y="3"/>
                </a:lnTo>
                <a:lnTo>
                  <a:pt x="637" y="1"/>
                </a:lnTo>
                <a:lnTo>
                  <a:pt x="632" y="0"/>
                </a:lnTo>
                <a:lnTo>
                  <a:pt x="88" y="0"/>
                </a:lnTo>
                <a:lnTo>
                  <a:pt x="84" y="1"/>
                </a:lnTo>
                <a:lnTo>
                  <a:pt x="80" y="3"/>
                </a:lnTo>
                <a:lnTo>
                  <a:pt x="78" y="8"/>
                </a:lnTo>
                <a:lnTo>
                  <a:pt x="77" y="13"/>
                </a:lnTo>
                <a:lnTo>
                  <a:pt x="77" y="21"/>
                </a:lnTo>
                <a:lnTo>
                  <a:pt x="77" y="31"/>
                </a:lnTo>
                <a:lnTo>
                  <a:pt x="77" y="39"/>
                </a:lnTo>
                <a:lnTo>
                  <a:pt x="77" y="48"/>
                </a:lnTo>
                <a:lnTo>
                  <a:pt x="12" y="48"/>
                </a:lnTo>
                <a:lnTo>
                  <a:pt x="8" y="50"/>
                </a:lnTo>
                <a:lnTo>
                  <a:pt x="4" y="52"/>
                </a:lnTo>
                <a:lnTo>
                  <a:pt x="2" y="56"/>
                </a:lnTo>
                <a:lnTo>
                  <a:pt x="0" y="60"/>
                </a:lnTo>
                <a:lnTo>
                  <a:pt x="0" y="66"/>
                </a:lnTo>
                <a:lnTo>
                  <a:pt x="0" y="72"/>
                </a:lnTo>
                <a:lnTo>
                  <a:pt x="0" y="94"/>
                </a:lnTo>
                <a:lnTo>
                  <a:pt x="0" y="119"/>
                </a:lnTo>
                <a:lnTo>
                  <a:pt x="3" y="147"/>
                </a:lnTo>
                <a:lnTo>
                  <a:pt x="6" y="177"/>
                </a:lnTo>
                <a:lnTo>
                  <a:pt x="9" y="192"/>
                </a:lnTo>
                <a:lnTo>
                  <a:pt x="12" y="207"/>
                </a:lnTo>
                <a:lnTo>
                  <a:pt x="17" y="222"/>
                </a:lnTo>
                <a:lnTo>
                  <a:pt x="22" y="236"/>
                </a:lnTo>
                <a:lnTo>
                  <a:pt x="29" y="250"/>
                </a:lnTo>
                <a:lnTo>
                  <a:pt x="36" y="263"/>
                </a:lnTo>
                <a:lnTo>
                  <a:pt x="44" y="276"/>
                </a:lnTo>
                <a:lnTo>
                  <a:pt x="55" y="286"/>
                </a:lnTo>
                <a:lnTo>
                  <a:pt x="63" y="295"/>
                </a:lnTo>
                <a:lnTo>
                  <a:pt x="73" y="302"/>
                </a:lnTo>
                <a:lnTo>
                  <a:pt x="84" y="308"/>
                </a:lnTo>
                <a:lnTo>
                  <a:pt x="94" y="314"/>
                </a:lnTo>
                <a:lnTo>
                  <a:pt x="106" y="317"/>
                </a:lnTo>
                <a:lnTo>
                  <a:pt x="118" y="321"/>
                </a:lnTo>
                <a:lnTo>
                  <a:pt x="130" y="322"/>
                </a:lnTo>
                <a:lnTo>
                  <a:pt x="143" y="323"/>
                </a:lnTo>
                <a:lnTo>
                  <a:pt x="156" y="340"/>
                </a:lnTo>
                <a:lnTo>
                  <a:pt x="169" y="355"/>
                </a:lnTo>
                <a:lnTo>
                  <a:pt x="182" y="368"/>
                </a:lnTo>
                <a:lnTo>
                  <a:pt x="195" y="379"/>
                </a:lnTo>
                <a:lnTo>
                  <a:pt x="222" y="398"/>
                </a:lnTo>
                <a:lnTo>
                  <a:pt x="248" y="414"/>
                </a:lnTo>
                <a:lnTo>
                  <a:pt x="262" y="423"/>
                </a:lnTo>
                <a:lnTo>
                  <a:pt x="276" y="433"/>
                </a:lnTo>
                <a:lnTo>
                  <a:pt x="288" y="441"/>
                </a:lnTo>
                <a:lnTo>
                  <a:pt x="298" y="452"/>
                </a:lnTo>
                <a:lnTo>
                  <a:pt x="303" y="456"/>
                </a:lnTo>
                <a:lnTo>
                  <a:pt x="306" y="462"/>
                </a:lnTo>
                <a:lnTo>
                  <a:pt x="310" y="470"/>
                </a:lnTo>
                <a:lnTo>
                  <a:pt x="312" y="476"/>
                </a:lnTo>
                <a:lnTo>
                  <a:pt x="314" y="484"/>
                </a:lnTo>
                <a:lnTo>
                  <a:pt x="316" y="492"/>
                </a:lnTo>
                <a:lnTo>
                  <a:pt x="317" y="500"/>
                </a:lnTo>
                <a:lnTo>
                  <a:pt x="317" y="510"/>
                </a:lnTo>
                <a:lnTo>
                  <a:pt x="316" y="529"/>
                </a:lnTo>
                <a:lnTo>
                  <a:pt x="314" y="546"/>
                </a:lnTo>
                <a:lnTo>
                  <a:pt x="312" y="561"/>
                </a:lnTo>
                <a:lnTo>
                  <a:pt x="308" y="574"/>
                </a:lnTo>
                <a:lnTo>
                  <a:pt x="305" y="586"/>
                </a:lnTo>
                <a:lnTo>
                  <a:pt x="299" y="596"/>
                </a:lnTo>
                <a:lnTo>
                  <a:pt x="293" y="605"/>
                </a:lnTo>
                <a:lnTo>
                  <a:pt x="287" y="612"/>
                </a:lnTo>
                <a:lnTo>
                  <a:pt x="279" y="618"/>
                </a:lnTo>
                <a:lnTo>
                  <a:pt x="270" y="623"/>
                </a:lnTo>
                <a:lnTo>
                  <a:pt x="262" y="628"/>
                </a:lnTo>
                <a:lnTo>
                  <a:pt x="251" y="630"/>
                </a:lnTo>
                <a:lnTo>
                  <a:pt x="241" y="633"/>
                </a:lnTo>
                <a:lnTo>
                  <a:pt x="230" y="634"/>
                </a:lnTo>
                <a:lnTo>
                  <a:pt x="217" y="635"/>
                </a:lnTo>
                <a:lnTo>
                  <a:pt x="204" y="635"/>
                </a:lnTo>
                <a:lnTo>
                  <a:pt x="199" y="636"/>
                </a:lnTo>
                <a:lnTo>
                  <a:pt x="195" y="638"/>
                </a:lnTo>
                <a:lnTo>
                  <a:pt x="193" y="642"/>
                </a:lnTo>
                <a:lnTo>
                  <a:pt x="192" y="647"/>
                </a:lnTo>
                <a:lnTo>
                  <a:pt x="192" y="707"/>
                </a:lnTo>
                <a:lnTo>
                  <a:pt x="193" y="711"/>
                </a:lnTo>
                <a:lnTo>
                  <a:pt x="195" y="716"/>
                </a:lnTo>
                <a:lnTo>
                  <a:pt x="199" y="718"/>
                </a:lnTo>
                <a:lnTo>
                  <a:pt x="204" y="719"/>
                </a:lnTo>
                <a:lnTo>
                  <a:pt x="515" y="719"/>
                </a:lnTo>
                <a:lnTo>
                  <a:pt x="520" y="718"/>
                </a:lnTo>
                <a:lnTo>
                  <a:pt x="524" y="716"/>
                </a:lnTo>
                <a:lnTo>
                  <a:pt x="526" y="711"/>
                </a:lnTo>
                <a:lnTo>
                  <a:pt x="527" y="707"/>
                </a:lnTo>
                <a:lnTo>
                  <a:pt x="527" y="647"/>
                </a:lnTo>
                <a:lnTo>
                  <a:pt x="526" y="642"/>
                </a:lnTo>
                <a:lnTo>
                  <a:pt x="524" y="638"/>
                </a:lnTo>
                <a:lnTo>
                  <a:pt x="520" y="636"/>
                </a:lnTo>
                <a:lnTo>
                  <a:pt x="515" y="635"/>
                </a:lnTo>
                <a:lnTo>
                  <a:pt x="501" y="635"/>
                </a:lnTo>
                <a:lnTo>
                  <a:pt x="488" y="634"/>
                </a:lnTo>
                <a:lnTo>
                  <a:pt x="476" y="631"/>
                </a:lnTo>
                <a:lnTo>
                  <a:pt x="464" y="628"/>
                </a:lnTo>
                <a:lnTo>
                  <a:pt x="455" y="623"/>
                </a:lnTo>
                <a:lnTo>
                  <a:pt x="445" y="618"/>
                </a:lnTo>
                <a:lnTo>
                  <a:pt x="437" y="612"/>
                </a:lnTo>
                <a:lnTo>
                  <a:pt x="429" y="605"/>
                </a:lnTo>
                <a:lnTo>
                  <a:pt x="423" y="597"/>
                </a:lnTo>
                <a:lnTo>
                  <a:pt x="417" y="587"/>
                </a:lnTo>
                <a:lnTo>
                  <a:pt x="412" y="577"/>
                </a:lnTo>
                <a:lnTo>
                  <a:pt x="408" y="566"/>
                </a:lnTo>
                <a:lnTo>
                  <a:pt x="405" y="554"/>
                </a:lnTo>
                <a:lnTo>
                  <a:pt x="402" y="541"/>
                </a:lnTo>
                <a:lnTo>
                  <a:pt x="401" y="525"/>
                </a:lnTo>
                <a:lnTo>
                  <a:pt x="401" y="511"/>
                </a:lnTo>
                <a:lnTo>
                  <a:pt x="401" y="500"/>
                </a:lnTo>
                <a:lnTo>
                  <a:pt x="402" y="492"/>
                </a:lnTo>
                <a:lnTo>
                  <a:pt x="404" y="484"/>
                </a:lnTo>
                <a:lnTo>
                  <a:pt x="406" y="476"/>
                </a:lnTo>
                <a:lnTo>
                  <a:pt x="410" y="470"/>
                </a:lnTo>
                <a:lnTo>
                  <a:pt x="412" y="462"/>
                </a:lnTo>
                <a:lnTo>
                  <a:pt x="417" y="456"/>
                </a:lnTo>
                <a:lnTo>
                  <a:pt x="420" y="451"/>
                </a:lnTo>
                <a:lnTo>
                  <a:pt x="431" y="441"/>
                </a:lnTo>
                <a:lnTo>
                  <a:pt x="443" y="431"/>
                </a:lnTo>
                <a:lnTo>
                  <a:pt x="456" y="423"/>
                </a:lnTo>
                <a:lnTo>
                  <a:pt x="471" y="414"/>
                </a:lnTo>
                <a:lnTo>
                  <a:pt x="498" y="398"/>
                </a:lnTo>
                <a:lnTo>
                  <a:pt x="524" y="379"/>
                </a:lnTo>
                <a:lnTo>
                  <a:pt x="537" y="367"/>
                </a:lnTo>
                <a:lnTo>
                  <a:pt x="550" y="354"/>
                </a:lnTo>
                <a:lnTo>
                  <a:pt x="563" y="340"/>
                </a:lnTo>
                <a:lnTo>
                  <a:pt x="575" y="323"/>
                </a:lnTo>
                <a:lnTo>
                  <a:pt x="588" y="322"/>
                </a:lnTo>
                <a:lnTo>
                  <a:pt x="601" y="321"/>
                </a:lnTo>
                <a:lnTo>
                  <a:pt x="612" y="317"/>
                </a:lnTo>
                <a:lnTo>
                  <a:pt x="624" y="314"/>
                </a:lnTo>
                <a:lnTo>
                  <a:pt x="634" y="308"/>
                </a:lnTo>
                <a:lnTo>
                  <a:pt x="644" y="302"/>
                </a:lnTo>
                <a:lnTo>
                  <a:pt x="653" y="295"/>
                </a:lnTo>
                <a:lnTo>
                  <a:pt x="663" y="286"/>
                </a:lnTo>
                <a:lnTo>
                  <a:pt x="672" y="274"/>
                </a:lnTo>
                <a:lnTo>
                  <a:pt x="682" y="261"/>
                </a:lnTo>
                <a:lnTo>
                  <a:pt x="690" y="248"/>
                </a:lnTo>
                <a:lnTo>
                  <a:pt x="696" y="233"/>
                </a:lnTo>
                <a:lnTo>
                  <a:pt x="702" y="219"/>
                </a:lnTo>
                <a:lnTo>
                  <a:pt x="707" y="203"/>
                </a:lnTo>
                <a:lnTo>
                  <a:pt x="711" y="188"/>
                </a:lnTo>
                <a:lnTo>
                  <a:pt x="713" y="171"/>
                </a:lnTo>
                <a:lnTo>
                  <a:pt x="718" y="141"/>
                </a:lnTo>
                <a:lnTo>
                  <a:pt x="719" y="113"/>
                </a:lnTo>
                <a:lnTo>
                  <a:pt x="720" y="88"/>
                </a:lnTo>
                <a:lnTo>
                  <a:pt x="719" y="69"/>
                </a:lnTo>
                <a:close/>
              </a:path>
            </a:pathLst>
          </a:custGeom>
          <a:solidFill>
            <a:srgbClr val="CE29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724">
            <a:extLst>
              <a:ext uri="{FF2B5EF4-FFF2-40B4-BE49-F238E27FC236}">
                <a16:creationId xmlns:a16="http://schemas.microsoft.com/office/drawing/2014/main" id="{DD2DB9C5-BF51-4EC7-9BB4-A353966906BB}"/>
              </a:ext>
            </a:extLst>
          </p:cNvPr>
          <p:cNvSpPr>
            <a:spLocks/>
          </p:cNvSpPr>
          <p:nvPr/>
        </p:nvSpPr>
        <p:spPr bwMode="auto">
          <a:xfrm>
            <a:off x="10521750" y="3092876"/>
            <a:ext cx="277813" cy="277813"/>
          </a:xfrm>
          <a:custGeom>
            <a:avLst/>
            <a:gdLst>
              <a:gd name="T0" fmla="*/ 782 w 873"/>
              <a:gd name="T1" fmla="*/ 436 h 873"/>
              <a:gd name="T2" fmla="*/ 779 w 873"/>
              <a:gd name="T3" fmla="*/ 428 h 873"/>
              <a:gd name="T4" fmla="*/ 773 w 873"/>
              <a:gd name="T5" fmla="*/ 423 h 873"/>
              <a:gd name="T6" fmla="*/ 451 w 873"/>
              <a:gd name="T7" fmla="*/ 421 h 873"/>
              <a:gd name="T8" fmla="*/ 711 w 873"/>
              <a:gd name="T9" fmla="*/ 180 h 873"/>
              <a:gd name="T10" fmla="*/ 718 w 873"/>
              <a:gd name="T11" fmla="*/ 176 h 873"/>
              <a:gd name="T12" fmla="*/ 721 w 873"/>
              <a:gd name="T13" fmla="*/ 168 h 873"/>
              <a:gd name="T14" fmla="*/ 721 w 873"/>
              <a:gd name="T15" fmla="*/ 12 h 873"/>
              <a:gd name="T16" fmla="*/ 718 w 873"/>
              <a:gd name="T17" fmla="*/ 4 h 873"/>
              <a:gd name="T18" fmla="*/ 711 w 873"/>
              <a:gd name="T19" fmla="*/ 0 h 873"/>
              <a:gd name="T20" fmla="*/ 163 w 873"/>
              <a:gd name="T21" fmla="*/ 0 h 873"/>
              <a:gd name="T22" fmla="*/ 155 w 873"/>
              <a:gd name="T23" fmla="*/ 4 h 873"/>
              <a:gd name="T24" fmla="*/ 151 w 873"/>
              <a:gd name="T25" fmla="*/ 12 h 873"/>
              <a:gd name="T26" fmla="*/ 151 w 873"/>
              <a:gd name="T27" fmla="*/ 168 h 873"/>
              <a:gd name="T28" fmla="*/ 155 w 873"/>
              <a:gd name="T29" fmla="*/ 176 h 873"/>
              <a:gd name="T30" fmla="*/ 163 w 873"/>
              <a:gd name="T31" fmla="*/ 180 h 873"/>
              <a:gd name="T32" fmla="*/ 421 w 873"/>
              <a:gd name="T33" fmla="*/ 421 h 873"/>
              <a:gd name="T34" fmla="*/ 99 w 873"/>
              <a:gd name="T35" fmla="*/ 423 h 873"/>
              <a:gd name="T36" fmla="*/ 93 w 873"/>
              <a:gd name="T37" fmla="*/ 428 h 873"/>
              <a:gd name="T38" fmla="*/ 90 w 873"/>
              <a:gd name="T39" fmla="*/ 436 h 873"/>
              <a:gd name="T40" fmla="*/ 11 w 873"/>
              <a:gd name="T41" fmla="*/ 663 h 873"/>
              <a:gd name="T42" fmla="*/ 4 w 873"/>
              <a:gd name="T43" fmla="*/ 667 h 873"/>
              <a:gd name="T44" fmla="*/ 0 w 873"/>
              <a:gd name="T45" fmla="*/ 675 h 873"/>
              <a:gd name="T46" fmla="*/ 0 w 873"/>
              <a:gd name="T47" fmla="*/ 861 h 873"/>
              <a:gd name="T48" fmla="*/ 4 w 873"/>
              <a:gd name="T49" fmla="*/ 869 h 873"/>
              <a:gd name="T50" fmla="*/ 11 w 873"/>
              <a:gd name="T51" fmla="*/ 873 h 873"/>
              <a:gd name="T52" fmla="*/ 198 w 873"/>
              <a:gd name="T53" fmla="*/ 873 h 873"/>
              <a:gd name="T54" fmla="*/ 205 w 873"/>
              <a:gd name="T55" fmla="*/ 869 h 873"/>
              <a:gd name="T56" fmla="*/ 210 w 873"/>
              <a:gd name="T57" fmla="*/ 861 h 873"/>
              <a:gd name="T58" fmla="*/ 210 w 873"/>
              <a:gd name="T59" fmla="*/ 675 h 873"/>
              <a:gd name="T60" fmla="*/ 205 w 873"/>
              <a:gd name="T61" fmla="*/ 667 h 873"/>
              <a:gd name="T62" fmla="*/ 198 w 873"/>
              <a:gd name="T63" fmla="*/ 663 h 873"/>
              <a:gd name="T64" fmla="*/ 120 w 873"/>
              <a:gd name="T65" fmla="*/ 451 h 873"/>
              <a:gd name="T66" fmla="*/ 346 w 873"/>
              <a:gd name="T67" fmla="*/ 662 h 873"/>
              <a:gd name="T68" fmla="*/ 337 w 873"/>
              <a:gd name="T69" fmla="*/ 665 h 873"/>
              <a:gd name="T70" fmla="*/ 332 w 873"/>
              <a:gd name="T71" fmla="*/ 671 h 873"/>
              <a:gd name="T72" fmla="*/ 331 w 873"/>
              <a:gd name="T73" fmla="*/ 858 h 873"/>
              <a:gd name="T74" fmla="*/ 333 w 873"/>
              <a:gd name="T75" fmla="*/ 867 h 873"/>
              <a:gd name="T76" fmla="*/ 340 w 873"/>
              <a:gd name="T77" fmla="*/ 872 h 873"/>
              <a:gd name="T78" fmla="*/ 526 w 873"/>
              <a:gd name="T79" fmla="*/ 873 h 873"/>
              <a:gd name="T80" fmla="*/ 535 w 873"/>
              <a:gd name="T81" fmla="*/ 871 h 873"/>
              <a:gd name="T82" fmla="*/ 540 w 873"/>
              <a:gd name="T83" fmla="*/ 863 h 873"/>
              <a:gd name="T84" fmla="*/ 541 w 873"/>
              <a:gd name="T85" fmla="*/ 677 h 873"/>
              <a:gd name="T86" fmla="*/ 539 w 873"/>
              <a:gd name="T87" fmla="*/ 669 h 873"/>
              <a:gd name="T88" fmla="*/ 533 w 873"/>
              <a:gd name="T89" fmla="*/ 664 h 873"/>
              <a:gd name="T90" fmla="*/ 451 w 873"/>
              <a:gd name="T91" fmla="*/ 662 h 873"/>
              <a:gd name="T92" fmla="*/ 752 w 873"/>
              <a:gd name="T93" fmla="*/ 662 h 873"/>
              <a:gd name="T94" fmla="*/ 671 w 873"/>
              <a:gd name="T95" fmla="*/ 664 h 873"/>
              <a:gd name="T96" fmla="*/ 664 w 873"/>
              <a:gd name="T97" fmla="*/ 669 h 873"/>
              <a:gd name="T98" fmla="*/ 662 w 873"/>
              <a:gd name="T99" fmla="*/ 678 h 873"/>
              <a:gd name="T100" fmla="*/ 663 w 873"/>
              <a:gd name="T101" fmla="*/ 863 h 873"/>
              <a:gd name="T102" fmla="*/ 669 w 873"/>
              <a:gd name="T103" fmla="*/ 871 h 873"/>
              <a:gd name="T104" fmla="*/ 677 w 873"/>
              <a:gd name="T105" fmla="*/ 873 h 873"/>
              <a:gd name="T106" fmla="*/ 864 w 873"/>
              <a:gd name="T107" fmla="*/ 872 h 873"/>
              <a:gd name="T108" fmla="*/ 870 w 873"/>
              <a:gd name="T109" fmla="*/ 867 h 873"/>
              <a:gd name="T110" fmla="*/ 873 w 873"/>
              <a:gd name="T111" fmla="*/ 858 h 873"/>
              <a:gd name="T112" fmla="*/ 871 w 873"/>
              <a:gd name="T113" fmla="*/ 671 h 873"/>
              <a:gd name="T114" fmla="*/ 866 w 873"/>
              <a:gd name="T115" fmla="*/ 665 h 873"/>
              <a:gd name="T116" fmla="*/ 858 w 873"/>
              <a:gd name="T117" fmla="*/ 662 h 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3" h="873">
                <a:moveTo>
                  <a:pt x="858" y="662"/>
                </a:moveTo>
                <a:lnTo>
                  <a:pt x="782" y="662"/>
                </a:lnTo>
                <a:lnTo>
                  <a:pt x="782" y="436"/>
                </a:lnTo>
                <a:lnTo>
                  <a:pt x="782" y="433"/>
                </a:lnTo>
                <a:lnTo>
                  <a:pt x="781" y="431"/>
                </a:lnTo>
                <a:lnTo>
                  <a:pt x="779" y="428"/>
                </a:lnTo>
                <a:lnTo>
                  <a:pt x="778" y="426"/>
                </a:lnTo>
                <a:lnTo>
                  <a:pt x="776" y="424"/>
                </a:lnTo>
                <a:lnTo>
                  <a:pt x="773" y="423"/>
                </a:lnTo>
                <a:lnTo>
                  <a:pt x="771" y="421"/>
                </a:lnTo>
                <a:lnTo>
                  <a:pt x="767" y="421"/>
                </a:lnTo>
                <a:lnTo>
                  <a:pt x="451" y="421"/>
                </a:lnTo>
                <a:lnTo>
                  <a:pt x="451" y="180"/>
                </a:lnTo>
                <a:lnTo>
                  <a:pt x="707" y="180"/>
                </a:lnTo>
                <a:lnTo>
                  <a:pt x="711" y="180"/>
                </a:lnTo>
                <a:lnTo>
                  <a:pt x="713" y="179"/>
                </a:lnTo>
                <a:lnTo>
                  <a:pt x="716" y="178"/>
                </a:lnTo>
                <a:lnTo>
                  <a:pt x="718" y="176"/>
                </a:lnTo>
                <a:lnTo>
                  <a:pt x="719" y="174"/>
                </a:lnTo>
                <a:lnTo>
                  <a:pt x="721" y="172"/>
                </a:lnTo>
                <a:lnTo>
                  <a:pt x="721" y="168"/>
                </a:lnTo>
                <a:lnTo>
                  <a:pt x="722" y="165"/>
                </a:lnTo>
                <a:lnTo>
                  <a:pt x="722" y="15"/>
                </a:lnTo>
                <a:lnTo>
                  <a:pt x="721" y="12"/>
                </a:lnTo>
                <a:lnTo>
                  <a:pt x="721" y="10"/>
                </a:lnTo>
                <a:lnTo>
                  <a:pt x="719" y="6"/>
                </a:lnTo>
                <a:lnTo>
                  <a:pt x="718" y="4"/>
                </a:lnTo>
                <a:lnTo>
                  <a:pt x="716" y="2"/>
                </a:lnTo>
                <a:lnTo>
                  <a:pt x="713" y="1"/>
                </a:lnTo>
                <a:lnTo>
                  <a:pt x="711" y="0"/>
                </a:lnTo>
                <a:lnTo>
                  <a:pt x="707" y="0"/>
                </a:lnTo>
                <a:lnTo>
                  <a:pt x="165" y="0"/>
                </a:lnTo>
                <a:lnTo>
                  <a:pt x="163" y="0"/>
                </a:lnTo>
                <a:lnTo>
                  <a:pt x="159" y="1"/>
                </a:lnTo>
                <a:lnTo>
                  <a:pt x="157" y="2"/>
                </a:lnTo>
                <a:lnTo>
                  <a:pt x="155" y="4"/>
                </a:lnTo>
                <a:lnTo>
                  <a:pt x="153" y="6"/>
                </a:lnTo>
                <a:lnTo>
                  <a:pt x="152" y="10"/>
                </a:lnTo>
                <a:lnTo>
                  <a:pt x="151" y="12"/>
                </a:lnTo>
                <a:lnTo>
                  <a:pt x="150" y="15"/>
                </a:lnTo>
                <a:lnTo>
                  <a:pt x="150" y="165"/>
                </a:lnTo>
                <a:lnTo>
                  <a:pt x="151" y="168"/>
                </a:lnTo>
                <a:lnTo>
                  <a:pt x="152" y="172"/>
                </a:lnTo>
                <a:lnTo>
                  <a:pt x="153" y="174"/>
                </a:lnTo>
                <a:lnTo>
                  <a:pt x="155" y="176"/>
                </a:lnTo>
                <a:lnTo>
                  <a:pt x="157" y="178"/>
                </a:lnTo>
                <a:lnTo>
                  <a:pt x="159" y="179"/>
                </a:lnTo>
                <a:lnTo>
                  <a:pt x="163" y="180"/>
                </a:lnTo>
                <a:lnTo>
                  <a:pt x="165" y="180"/>
                </a:lnTo>
                <a:lnTo>
                  <a:pt x="421" y="180"/>
                </a:lnTo>
                <a:lnTo>
                  <a:pt x="421" y="421"/>
                </a:lnTo>
                <a:lnTo>
                  <a:pt x="105" y="421"/>
                </a:lnTo>
                <a:lnTo>
                  <a:pt x="101" y="421"/>
                </a:lnTo>
                <a:lnTo>
                  <a:pt x="99" y="423"/>
                </a:lnTo>
                <a:lnTo>
                  <a:pt x="96" y="424"/>
                </a:lnTo>
                <a:lnTo>
                  <a:pt x="94" y="426"/>
                </a:lnTo>
                <a:lnTo>
                  <a:pt x="93" y="428"/>
                </a:lnTo>
                <a:lnTo>
                  <a:pt x="91" y="431"/>
                </a:lnTo>
                <a:lnTo>
                  <a:pt x="91" y="433"/>
                </a:lnTo>
                <a:lnTo>
                  <a:pt x="90" y="436"/>
                </a:lnTo>
                <a:lnTo>
                  <a:pt x="90" y="662"/>
                </a:lnTo>
                <a:lnTo>
                  <a:pt x="15" y="662"/>
                </a:lnTo>
                <a:lnTo>
                  <a:pt x="11" y="663"/>
                </a:lnTo>
                <a:lnTo>
                  <a:pt x="9" y="664"/>
                </a:lnTo>
                <a:lnTo>
                  <a:pt x="6" y="665"/>
                </a:lnTo>
                <a:lnTo>
                  <a:pt x="4" y="667"/>
                </a:lnTo>
                <a:lnTo>
                  <a:pt x="2" y="669"/>
                </a:lnTo>
                <a:lnTo>
                  <a:pt x="1" y="671"/>
                </a:lnTo>
                <a:lnTo>
                  <a:pt x="0" y="675"/>
                </a:lnTo>
                <a:lnTo>
                  <a:pt x="0" y="678"/>
                </a:lnTo>
                <a:lnTo>
                  <a:pt x="0" y="858"/>
                </a:lnTo>
                <a:lnTo>
                  <a:pt x="0" y="861"/>
                </a:lnTo>
                <a:lnTo>
                  <a:pt x="1" y="863"/>
                </a:lnTo>
                <a:lnTo>
                  <a:pt x="2" y="867"/>
                </a:lnTo>
                <a:lnTo>
                  <a:pt x="4" y="869"/>
                </a:lnTo>
                <a:lnTo>
                  <a:pt x="6" y="871"/>
                </a:lnTo>
                <a:lnTo>
                  <a:pt x="9" y="872"/>
                </a:lnTo>
                <a:lnTo>
                  <a:pt x="11" y="873"/>
                </a:lnTo>
                <a:lnTo>
                  <a:pt x="15" y="873"/>
                </a:lnTo>
                <a:lnTo>
                  <a:pt x="196" y="873"/>
                </a:lnTo>
                <a:lnTo>
                  <a:pt x="198" y="873"/>
                </a:lnTo>
                <a:lnTo>
                  <a:pt x="201" y="872"/>
                </a:lnTo>
                <a:lnTo>
                  <a:pt x="203" y="871"/>
                </a:lnTo>
                <a:lnTo>
                  <a:pt x="205" y="869"/>
                </a:lnTo>
                <a:lnTo>
                  <a:pt x="208" y="867"/>
                </a:lnTo>
                <a:lnTo>
                  <a:pt x="209" y="863"/>
                </a:lnTo>
                <a:lnTo>
                  <a:pt x="210" y="861"/>
                </a:lnTo>
                <a:lnTo>
                  <a:pt x="211" y="858"/>
                </a:lnTo>
                <a:lnTo>
                  <a:pt x="211" y="677"/>
                </a:lnTo>
                <a:lnTo>
                  <a:pt x="210" y="675"/>
                </a:lnTo>
                <a:lnTo>
                  <a:pt x="209" y="671"/>
                </a:lnTo>
                <a:lnTo>
                  <a:pt x="208" y="669"/>
                </a:lnTo>
                <a:lnTo>
                  <a:pt x="205" y="667"/>
                </a:lnTo>
                <a:lnTo>
                  <a:pt x="203" y="665"/>
                </a:lnTo>
                <a:lnTo>
                  <a:pt x="201" y="664"/>
                </a:lnTo>
                <a:lnTo>
                  <a:pt x="198" y="663"/>
                </a:lnTo>
                <a:lnTo>
                  <a:pt x="196" y="663"/>
                </a:lnTo>
                <a:lnTo>
                  <a:pt x="120" y="662"/>
                </a:lnTo>
                <a:lnTo>
                  <a:pt x="120" y="451"/>
                </a:lnTo>
                <a:lnTo>
                  <a:pt x="421" y="451"/>
                </a:lnTo>
                <a:lnTo>
                  <a:pt x="421" y="662"/>
                </a:lnTo>
                <a:lnTo>
                  <a:pt x="346" y="662"/>
                </a:lnTo>
                <a:lnTo>
                  <a:pt x="343" y="663"/>
                </a:lnTo>
                <a:lnTo>
                  <a:pt x="340" y="664"/>
                </a:lnTo>
                <a:lnTo>
                  <a:pt x="337" y="665"/>
                </a:lnTo>
                <a:lnTo>
                  <a:pt x="335" y="667"/>
                </a:lnTo>
                <a:lnTo>
                  <a:pt x="333" y="669"/>
                </a:lnTo>
                <a:lnTo>
                  <a:pt x="332" y="671"/>
                </a:lnTo>
                <a:lnTo>
                  <a:pt x="331" y="675"/>
                </a:lnTo>
                <a:lnTo>
                  <a:pt x="331" y="678"/>
                </a:lnTo>
                <a:lnTo>
                  <a:pt x="331" y="858"/>
                </a:lnTo>
                <a:lnTo>
                  <a:pt x="331" y="861"/>
                </a:lnTo>
                <a:lnTo>
                  <a:pt x="332" y="863"/>
                </a:lnTo>
                <a:lnTo>
                  <a:pt x="333" y="867"/>
                </a:lnTo>
                <a:lnTo>
                  <a:pt x="335" y="869"/>
                </a:lnTo>
                <a:lnTo>
                  <a:pt x="337" y="871"/>
                </a:lnTo>
                <a:lnTo>
                  <a:pt x="340" y="872"/>
                </a:lnTo>
                <a:lnTo>
                  <a:pt x="343" y="873"/>
                </a:lnTo>
                <a:lnTo>
                  <a:pt x="346" y="873"/>
                </a:lnTo>
                <a:lnTo>
                  <a:pt x="526" y="873"/>
                </a:lnTo>
                <a:lnTo>
                  <a:pt x="529" y="873"/>
                </a:lnTo>
                <a:lnTo>
                  <a:pt x="533" y="872"/>
                </a:lnTo>
                <a:lnTo>
                  <a:pt x="535" y="871"/>
                </a:lnTo>
                <a:lnTo>
                  <a:pt x="537" y="869"/>
                </a:lnTo>
                <a:lnTo>
                  <a:pt x="539" y="867"/>
                </a:lnTo>
                <a:lnTo>
                  <a:pt x="540" y="863"/>
                </a:lnTo>
                <a:lnTo>
                  <a:pt x="541" y="861"/>
                </a:lnTo>
                <a:lnTo>
                  <a:pt x="541" y="858"/>
                </a:lnTo>
                <a:lnTo>
                  <a:pt x="541" y="677"/>
                </a:lnTo>
                <a:lnTo>
                  <a:pt x="541" y="675"/>
                </a:lnTo>
                <a:lnTo>
                  <a:pt x="540" y="671"/>
                </a:lnTo>
                <a:lnTo>
                  <a:pt x="539" y="669"/>
                </a:lnTo>
                <a:lnTo>
                  <a:pt x="537" y="667"/>
                </a:lnTo>
                <a:lnTo>
                  <a:pt x="535" y="665"/>
                </a:lnTo>
                <a:lnTo>
                  <a:pt x="533" y="664"/>
                </a:lnTo>
                <a:lnTo>
                  <a:pt x="529" y="663"/>
                </a:lnTo>
                <a:lnTo>
                  <a:pt x="526" y="663"/>
                </a:lnTo>
                <a:lnTo>
                  <a:pt x="451" y="662"/>
                </a:lnTo>
                <a:lnTo>
                  <a:pt x="451" y="451"/>
                </a:lnTo>
                <a:lnTo>
                  <a:pt x="752" y="451"/>
                </a:lnTo>
                <a:lnTo>
                  <a:pt x="752" y="662"/>
                </a:lnTo>
                <a:lnTo>
                  <a:pt x="677" y="662"/>
                </a:lnTo>
                <a:lnTo>
                  <a:pt x="674" y="663"/>
                </a:lnTo>
                <a:lnTo>
                  <a:pt x="671" y="664"/>
                </a:lnTo>
                <a:lnTo>
                  <a:pt x="669" y="665"/>
                </a:lnTo>
                <a:lnTo>
                  <a:pt x="667" y="667"/>
                </a:lnTo>
                <a:lnTo>
                  <a:pt x="664" y="669"/>
                </a:lnTo>
                <a:lnTo>
                  <a:pt x="663" y="671"/>
                </a:lnTo>
                <a:lnTo>
                  <a:pt x="662" y="675"/>
                </a:lnTo>
                <a:lnTo>
                  <a:pt x="662" y="678"/>
                </a:lnTo>
                <a:lnTo>
                  <a:pt x="662" y="858"/>
                </a:lnTo>
                <a:lnTo>
                  <a:pt x="662" y="861"/>
                </a:lnTo>
                <a:lnTo>
                  <a:pt x="663" y="863"/>
                </a:lnTo>
                <a:lnTo>
                  <a:pt x="664" y="867"/>
                </a:lnTo>
                <a:lnTo>
                  <a:pt x="667" y="869"/>
                </a:lnTo>
                <a:lnTo>
                  <a:pt x="669" y="871"/>
                </a:lnTo>
                <a:lnTo>
                  <a:pt x="671" y="872"/>
                </a:lnTo>
                <a:lnTo>
                  <a:pt x="674" y="873"/>
                </a:lnTo>
                <a:lnTo>
                  <a:pt x="677" y="873"/>
                </a:lnTo>
                <a:lnTo>
                  <a:pt x="858" y="873"/>
                </a:lnTo>
                <a:lnTo>
                  <a:pt x="861" y="873"/>
                </a:lnTo>
                <a:lnTo>
                  <a:pt x="864" y="872"/>
                </a:lnTo>
                <a:lnTo>
                  <a:pt x="866" y="871"/>
                </a:lnTo>
                <a:lnTo>
                  <a:pt x="868" y="869"/>
                </a:lnTo>
                <a:lnTo>
                  <a:pt x="870" y="867"/>
                </a:lnTo>
                <a:lnTo>
                  <a:pt x="871" y="863"/>
                </a:lnTo>
                <a:lnTo>
                  <a:pt x="873" y="861"/>
                </a:lnTo>
                <a:lnTo>
                  <a:pt x="873" y="858"/>
                </a:lnTo>
                <a:lnTo>
                  <a:pt x="873" y="677"/>
                </a:lnTo>
                <a:lnTo>
                  <a:pt x="873" y="675"/>
                </a:lnTo>
                <a:lnTo>
                  <a:pt x="871" y="671"/>
                </a:lnTo>
                <a:lnTo>
                  <a:pt x="870" y="669"/>
                </a:lnTo>
                <a:lnTo>
                  <a:pt x="868" y="667"/>
                </a:lnTo>
                <a:lnTo>
                  <a:pt x="866" y="665"/>
                </a:lnTo>
                <a:lnTo>
                  <a:pt x="864" y="664"/>
                </a:lnTo>
                <a:lnTo>
                  <a:pt x="861" y="663"/>
                </a:lnTo>
                <a:lnTo>
                  <a:pt x="858" y="66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18F6A58-01C2-4B8A-97EE-31A198442337}"/>
              </a:ext>
            </a:extLst>
          </p:cNvPr>
          <p:cNvGrpSpPr/>
          <p:nvPr/>
        </p:nvGrpSpPr>
        <p:grpSpPr>
          <a:xfrm>
            <a:off x="10516987" y="4297223"/>
            <a:ext cx="287338" cy="249238"/>
            <a:chOff x="2598738" y="2530475"/>
            <a:chExt cx="287338" cy="249238"/>
          </a:xfrm>
          <a:solidFill>
            <a:srgbClr val="7F7F7F"/>
          </a:solidFill>
        </p:grpSpPr>
        <p:sp>
          <p:nvSpPr>
            <p:cNvPr id="72" name="Freeform 527">
              <a:extLst>
                <a:ext uri="{FF2B5EF4-FFF2-40B4-BE49-F238E27FC236}">
                  <a16:creationId xmlns:a16="http://schemas.microsoft.com/office/drawing/2014/main" id="{9A958697-9F7E-46A0-A31A-A67FAB2A3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888" y="2625725"/>
              <a:ext cx="123825" cy="134938"/>
            </a:xfrm>
            <a:custGeom>
              <a:avLst/>
              <a:gdLst>
                <a:gd name="T0" fmla="*/ 187 w 391"/>
                <a:gd name="T1" fmla="*/ 0 h 421"/>
                <a:gd name="T2" fmla="*/ 172 w 391"/>
                <a:gd name="T3" fmla="*/ 19 h 421"/>
                <a:gd name="T4" fmla="*/ 155 w 391"/>
                <a:gd name="T5" fmla="*/ 36 h 421"/>
                <a:gd name="T6" fmla="*/ 135 w 391"/>
                <a:gd name="T7" fmla="*/ 52 h 421"/>
                <a:gd name="T8" fmla="*/ 113 w 391"/>
                <a:gd name="T9" fmla="*/ 65 h 421"/>
                <a:gd name="T10" fmla="*/ 91 w 391"/>
                <a:gd name="T11" fmla="*/ 76 h 421"/>
                <a:gd name="T12" fmla="*/ 67 w 391"/>
                <a:gd name="T13" fmla="*/ 83 h 421"/>
                <a:gd name="T14" fmla="*/ 41 w 391"/>
                <a:gd name="T15" fmla="*/ 89 h 421"/>
                <a:gd name="T16" fmla="*/ 15 w 391"/>
                <a:gd name="T17" fmla="*/ 90 h 421"/>
                <a:gd name="T18" fmla="*/ 0 w 391"/>
                <a:gd name="T19" fmla="*/ 89 h 421"/>
                <a:gd name="T20" fmla="*/ 1 w 391"/>
                <a:gd name="T21" fmla="*/ 410 h 421"/>
                <a:gd name="T22" fmla="*/ 3 w 391"/>
                <a:gd name="T23" fmla="*/ 415 h 421"/>
                <a:gd name="T24" fmla="*/ 6 w 391"/>
                <a:gd name="T25" fmla="*/ 418 h 421"/>
                <a:gd name="T26" fmla="*/ 11 w 391"/>
                <a:gd name="T27" fmla="*/ 421 h 421"/>
                <a:gd name="T28" fmla="*/ 77 w 391"/>
                <a:gd name="T29" fmla="*/ 421 h 421"/>
                <a:gd name="T30" fmla="*/ 75 w 391"/>
                <a:gd name="T31" fmla="*/ 406 h 421"/>
                <a:gd name="T32" fmla="*/ 77 w 391"/>
                <a:gd name="T33" fmla="*/ 385 h 421"/>
                <a:gd name="T34" fmla="*/ 83 w 391"/>
                <a:gd name="T35" fmla="*/ 366 h 421"/>
                <a:gd name="T36" fmla="*/ 93 w 391"/>
                <a:gd name="T37" fmla="*/ 347 h 421"/>
                <a:gd name="T38" fmla="*/ 106 w 391"/>
                <a:gd name="T39" fmla="*/ 331 h 421"/>
                <a:gd name="T40" fmla="*/ 122 w 391"/>
                <a:gd name="T41" fmla="*/ 318 h 421"/>
                <a:gd name="T42" fmla="*/ 139 w 391"/>
                <a:gd name="T43" fmla="*/ 309 h 421"/>
                <a:gd name="T44" fmla="*/ 159 w 391"/>
                <a:gd name="T45" fmla="*/ 303 h 421"/>
                <a:gd name="T46" fmla="*/ 181 w 391"/>
                <a:gd name="T47" fmla="*/ 301 h 421"/>
                <a:gd name="T48" fmla="*/ 201 w 391"/>
                <a:gd name="T49" fmla="*/ 303 h 421"/>
                <a:gd name="T50" fmla="*/ 222 w 391"/>
                <a:gd name="T51" fmla="*/ 309 h 421"/>
                <a:gd name="T52" fmla="*/ 240 w 391"/>
                <a:gd name="T53" fmla="*/ 318 h 421"/>
                <a:gd name="T54" fmla="*/ 255 w 391"/>
                <a:gd name="T55" fmla="*/ 331 h 421"/>
                <a:gd name="T56" fmla="*/ 268 w 391"/>
                <a:gd name="T57" fmla="*/ 347 h 421"/>
                <a:gd name="T58" fmla="*/ 277 w 391"/>
                <a:gd name="T59" fmla="*/ 366 h 421"/>
                <a:gd name="T60" fmla="*/ 284 w 391"/>
                <a:gd name="T61" fmla="*/ 385 h 421"/>
                <a:gd name="T62" fmla="*/ 286 w 391"/>
                <a:gd name="T63" fmla="*/ 406 h 421"/>
                <a:gd name="T64" fmla="*/ 285 w 391"/>
                <a:gd name="T65" fmla="*/ 421 h 421"/>
                <a:gd name="T66" fmla="*/ 379 w 391"/>
                <a:gd name="T67" fmla="*/ 420 h 421"/>
                <a:gd name="T68" fmla="*/ 385 w 391"/>
                <a:gd name="T69" fmla="*/ 418 h 421"/>
                <a:gd name="T70" fmla="*/ 389 w 391"/>
                <a:gd name="T71" fmla="*/ 415 h 421"/>
                <a:gd name="T72" fmla="*/ 391 w 391"/>
                <a:gd name="T73" fmla="*/ 410 h 421"/>
                <a:gd name="T74" fmla="*/ 391 w 391"/>
                <a:gd name="T75" fmla="*/ 15 h 421"/>
                <a:gd name="T76" fmla="*/ 390 w 391"/>
                <a:gd name="T77" fmla="*/ 8 h 421"/>
                <a:gd name="T78" fmla="*/ 387 w 391"/>
                <a:gd name="T79" fmla="*/ 4 h 421"/>
                <a:gd name="T80" fmla="*/ 382 w 391"/>
                <a:gd name="T81" fmla="*/ 1 h 421"/>
                <a:gd name="T82" fmla="*/ 376 w 391"/>
                <a:gd name="T83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1" h="421">
                  <a:moveTo>
                    <a:pt x="376" y="0"/>
                  </a:moveTo>
                  <a:lnTo>
                    <a:pt x="187" y="0"/>
                  </a:lnTo>
                  <a:lnTo>
                    <a:pt x="180" y="9"/>
                  </a:lnTo>
                  <a:lnTo>
                    <a:pt x="172" y="19"/>
                  </a:lnTo>
                  <a:lnTo>
                    <a:pt x="164" y="28"/>
                  </a:lnTo>
                  <a:lnTo>
                    <a:pt x="155" y="36"/>
                  </a:lnTo>
                  <a:lnTo>
                    <a:pt x="145" y="45"/>
                  </a:lnTo>
                  <a:lnTo>
                    <a:pt x="135" y="52"/>
                  </a:lnTo>
                  <a:lnTo>
                    <a:pt x="125" y="59"/>
                  </a:lnTo>
                  <a:lnTo>
                    <a:pt x="113" y="65"/>
                  </a:lnTo>
                  <a:lnTo>
                    <a:pt x="103" y="71"/>
                  </a:lnTo>
                  <a:lnTo>
                    <a:pt x="91" y="76"/>
                  </a:lnTo>
                  <a:lnTo>
                    <a:pt x="79" y="80"/>
                  </a:lnTo>
                  <a:lnTo>
                    <a:pt x="67" y="83"/>
                  </a:lnTo>
                  <a:lnTo>
                    <a:pt x="54" y="87"/>
                  </a:lnTo>
                  <a:lnTo>
                    <a:pt x="41" y="89"/>
                  </a:lnTo>
                  <a:lnTo>
                    <a:pt x="29" y="90"/>
                  </a:lnTo>
                  <a:lnTo>
                    <a:pt x="15" y="90"/>
                  </a:lnTo>
                  <a:lnTo>
                    <a:pt x="7" y="90"/>
                  </a:lnTo>
                  <a:lnTo>
                    <a:pt x="0" y="89"/>
                  </a:lnTo>
                  <a:lnTo>
                    <a:pt x="0" y="406"/>
                  </a:lnTo>
                  <a:lnTo>
                    <a:pt x="1" y="410"/>
                  </a:lnTo>
                  <a:lnTo>
                    <a:pt x="1" y="412"/>
                  </a:lnTo>
                  <a:lnTo>
                    <a:pt x="3" y="415"/>
                  </a:lnTo>
                  <a:lnTo>
                    <a:pt x="4" y="417"/>
                  </a:lnTo>
                  <a:lnTo>
                    <a:pt x="6" y="418"/>
                  </a:lnTo>
                  <a:lnTo>
                    <a:pt x="9" y="420"/>
                  </a:lnTo>
                  <a:lnTo>
                    <a:pt x="11" y="421"/>
                  </a:lnTo>
                  <a:lnTo>
                    <a:pt x="15" y="421"/>
                  </a:lnTo>
                  <a:lnTo>
                    <a:pt x="77" y="421"/>
                  </a:lnTo>
                  <a:lnTo>
                    <a:pt x="76" y="414"/>
                  </a:lnTo>
                  <a:lnTo>
                    <a:pt x="75" y="406"/>
                  </a:lnTo>
                  <a:lnTo>
                    <a:pt x="76" y="396"/>
                  </a:lnTo>
                  <a:lnTo>
                    <a:pt x="77" y="385"/>
                  </a:lnTo>
                  <a:lnTo>
                    <a:pt x="80" y="375"/>
                  </a:lnTo>
                  <a:lnTo>
                    <a:pt x="83" y="366"/>
                  </a:lnTo>
                  <a:lnTo>
                    <a:pt x="88" y="356"/>
                  </a:lnTo>
                  <a:lnTo>
                    <a:pt x="93" y="347"/>
                  </a:lnTo>
                  <a:lnTo>
                    <a:pt x="99" y="339"/>
                  </a:lnTo>
                  <a:lnTo>
                    <a:pt x="106" y="331"/>
                  </a:lnTo>
                  <a:lnTo>
                    <a:pt x="113" y="325"/>
                  </a:lnTo>
                  <a:lnTo>
                    <a:pt x="122" y="318"/>
                  </a:lnTo>
                  <a:lnTo>
                    <a:pt x="130" y="313"/>
                  </a:lnTo>
                  <a:lnTo>
                    <a:pt x="139" y="309"/>
                  </a:lnTo>
                  <a:lnTo>
                    <a:pt x="150" y="305"/>
                  </a:lnTo>
                  <a:lnTo>
                    <a:pt x="159" y="303"/>
                  </a:lnTo>
                  <a:lnTo>
                    <a:pt x="170" y="301"/>
                  </a:lnTo>
                  <a:lnTo>
                    <a:pt x="181" y="301"/>
                  </a:lnTo>
                  <a:lnTo>
                    <a:pt x="192" y="301"/>
                  </a:lnTo>
                  <a:lnTo>
                    <a:pt x="201" y="303"/>
                  </a:lnTo>
                  <a:lnTo>
                    <a:pt x="212" y="305"/>
                  </a:lnTo>
                  <a:lnTo>
                    <a:pt x="222" y="309"/>
                  </a:lnTo>
                  <a:lnTo>
                    <a:pt x="230" y="313"/>
                  </a:lnTo>
                  <a:lnTo>
                    <a:pt x="240" y="318"/>
                  </a:lnTo>
                  <a:lnTo>
                    <a:pt x="247" y="325"/>
                  </a:lnTo>
                  <a:lnTo>
                    <a:pt x="255" y="331"/>
                  </a:lnTo>
                  <a:lnTo>
                    <a:pt x="261" y="339"/>
                  </a:lnTo>
                  <a:lnTo>
                    <a:pt x="268" y="347"/>
                  </a:lnTo>
                  <a:lnTo>
                    <a:pt x="273" y="356"/>
                  </a:lnTo>
                  <a:lnTo>
                    <a:pt x="277" y="366"/>
                  </a:lnTo>
                  <a:lnTo>
                    <a:pt x="282" y="375"/>
                  </a:lnTo>
                  <a:lnTo>
                    <a:pt x="284" y="385"/>
                  </a:lnTo>
                  <a:lnTo>
                    <a:pt x="285" y="396"/>
                  </a:lnTo>
                  <a:lnTo>
                    <a:pt x="286" y="406"/>
                  </a:lnTo>
                  <a:lnTo>
                    <a:pt x="286" y="414"/>
                  </a:lnTo>
                  <a:lnTo>
                    <a:pt x="285" y="421"/>
                  </a:lnTo>
                  <a:lnTo>
                    <a:pt x="376" y="421"/>
                  </a:lnTo>
                  <a:lnTo>
                    <a:pt x="379" y="420"/>
                  </a:lnTo>
                  <a:lnTo>
                    <a:pt x="382" y="420"/>
                  </a:lnTo>
                  <a:lnTo>
                    <a:pt x="385" y="418"/>
                  </a:lnTo>
                  <a:lnTo>
                    <a:pt x="387" y="417"/>
                  </a:lnTo>
                  <a:lnTo>
                    <a:pt x="389" y="415"/>
                  </a:lnTo>
                  <a:lnTo>
                    <a:pt x="390" y="412"/>
                  </a:lnTo>
                  <a:lnTo>
                    <a:pt x="391" y="410"/>
                  </a:lnTo>
                  <a:lnTo>
                    <a:pt x="391" y="406"/>
                  </a:lnTo>
                  <a:lnTo>
                    <a:pt x="391" y="15"/>
                  </a:lnTo>
                  <a:lnTo>
                    <a:pt x="391" y="12"/>
                  </a:lnTo>
                  <a:lnTo>
                    <a:pt x="390" y="8"/>
                  </a:lnTo>
                  <a:lnTo>
                    <a:pt x="389" y="6"/>
                  </a:lnTo>
                  <a:lnTo>
                    <a:pt x="387" y="4"/>
                  </a:lnTo>
                  <a:lnTo>
                    <a:pt x="385" y="2"/>
                  </a:lnTo>
                  <a:lnTo>
                    <a:pt x="382" y="1"/>
                  </a:lnTo>
                  <a:lnTo>
                    <a:pt x="37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28">
              <a:extLst>
                <a:ext uri="{FF2B5EF4-FFF2-40B4-BE49-F238E27FC236}">
                  <a16:creationId xmlns:a16="http://schemas.microsoft.com/office/drawing/2014/main" id="{83F5CED5-EC59-44A7-BB1E-6DAA3AFE7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738" y="2692400"/>
              <a:ext cx="47625" cy="9525"/>
            </a:xfrm>
            <a:custGeom>
              <a:avLst/>
              <a:gdLst>
                <a:gd name="T0" fmla="*/ 136 w 151"/>
                <a:gd name="T1" fmla="*/ 0 h 30"/>
                <a:gd name="T2" fmla="*/ 15 w 151"/>
                <a:gd name="T3" fmla="*/ 0 h 30"/>
                <a:gd name="T4" fmla="*/ 12 w 151"/>
                <a:gd name="T5" fmla="*/ 1 h 30"/>
                <a:gd name="T6" fmla="*/ 9 w 151"/>
                <a:gd name="T7" fmla="*/ 1 h 30"/>
                <a:gd name="T8" fmla="*/ 7 w 151"/>
                <a:gd name="T9" fmla="*/ 3 h 30"/>
                <a:gd name="T10" fmla="*/ 5 w 151"/>
                <a:gd name="T11" fmla="*/ 4 h 30"/>
                <a:gd name="T12" fmla="*/ 3 w 151"/>
                <a:gd name="T13" fmla="*/ 6 h 30"/>
                <a:gd name="T14" fmla="*/ 2 w 151"/>
                <a:gd name="T15" fmla="*/ 10 h 30"/>
                <a:gd name="T16" fmla="*/ 0 w 151"/>
                <a:gd name="T17" fmla="*/ 13 h 30"/>
                <a:gd name="T18" fmla="*/ 0 w 151"/>
                <a:gd name="T19" fmla="*/ 15 h 30"/>
                <a:gd name="T20" fmla="*/ 0 w 151"/>
                <a:gd name="T21" fmla="*/ 18 h 30"/>
                <a:gd name="T22" fmla="*/ 2 w 151"/>
                <a:gd name="T23" fmla="*/ 21 h 30"/>
                <a:gd name="T24" fmla="*/ 3 w 151"/>
                <a:gd name="T25" fmla="*/ 24 h 30"/>
                <a:gd name="T26" fmla="*/ 5 w 151"/>
                <a:gd name="T27" fmla="*/ 26 h 30"/>
                <a:gd name="T28" fmla="*/ 7 w 151"/>
                <a:gd name="T29" fmla="*/ 28 h 30"/>
                <a:gd name="T30" fmla="*/ 9 w 151"/>
                <a:gd name="T31" fmla="*/ 29 h 30"/>
                <a:gd name="T32" fmla="*/ 12 w 151"/>
                <a:gd name="T33" fmla="*/ 30 h 30"/>
                <a:gd name="T34" fmla="*/ 15 w 151"/>
                <a:gd name="T35" fmla="*/ 30 h 30"/>
                <a:gd name="T36" fmla="*/ 136 w 151"/>
                <a:gd name="T37" fmla="*/ 30 h 30"/>
                <a:gd name="T38" fmla="*/ 139 w 151"/>
                <a:gd name="T39" fmla="*/ 30 h 30"/>
                <a:gd name="T40" fmla="*/ 142 w 151"/>
                <a:gd name="T41" fmla="*/ 29 h 30"/>
                <a:gd name="T42" fmla="*/ 144 w 151"/>
                <a:gd name="T43" fmla="*/ 28 h 30"/>
                <a:gd name="T44" fmla="*/ 146 w 151"/>
                <a:gd name="T45" fmla="*/ 26 h 30"/>
                <a:gd name="T46" fmla="*/ 148 w 151"/>
                <a:gd name="T47" fmla="*/ 24 h 30"/>
                <a:gd name="T48" fmla="*/ 150 w 151"/>
                <a:gd name="T49" fmla="*/ 21 h 30"/>
                <a:gd name="T50" fmla="*/ 151 w 151"/>
                <a:gd name="T51" fmla="*/ 18 h 30"/>
                <a:gd name="T52" fmla="*/ 151 w 151"/>
                <a:gd name="T53" fmla="*/ 15 h 30"/>
                <a:gd name="T54" fmla="*/ 151 w 151"/>
                <a:gd name="T55" fmla="*/ 13 h 30"/>
                <a:gd name="T56" fmla="*/ 150 w 151"/>
                <a:gd name="T57" fmla="*/ 10 h 30"/>
                <a:gd name="T58" fmla="*/ 148 w 151"/>
                <a:gd name="T59" fmla="*/ 8 h 30"/>
                <a:gd name="T60" fmla="*/ 146 w 151"/>
                <a:gd name="T61" fmla="*/ 4 h 30"/>
                <a:gd name="T62" fmla="*/ 144 w 151"/>
                <a:gd name="T63" fmla="*/ 3 h 30"/>
                <a:gd name="T64" fmla="*/ 142 w 151"/>
                <a:gd name="T65" fmla="*/ 1 h 30"/>
                <a:gd name="T66" fmla="*/ 139 w 151"/>
                <a:gd name="T67" fmla="*/ 1 h 30"/>
                <a:gd name="T68" fmla="*/ 136 w 15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30">
                  <a:moveTo>
                    <a:pt x="136" y="0"/>
                  </a:moveTo>
                  <a:lnTo>
                    <a:pt x="15" y="0"/>
                  </a:lnTo>
                  <a:lnTo>
                    <a:pt x="12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36" y="30"/>
                  </a:lnTo>
                  <a:lnTo>
                    <a:pt x="139" y="30"/>
                  </a:lnTo>
                  <a:lnTo>
                    <a:pt x="142" y="29"/>
                  </a:lnTo>
                  <a:lnTo>
                    <a:pt x="144" y="28"/>
                  </a:lnTo>
                  <a:lnTo>
                    <a:pt x="146" y="26"/>
                  </a:lnTo>
                  <a:lnTo>
                    <a:pt x="148" y="24"/>
                  </a:lnTo>
                  <a:lnTo>
                    <a:pt x="150" y="21"/>
                  </a:lnTo>
                  <a:lnTo>
                    <a:pt x="151" y="18"/>
                  </a:lnTo>
                  <a:lnTo>
                    <a:pt x="151" y="15"/>
                  </a:lnTo>
                  <a:lnTo>
                    <a:pt x="151" y="13"/>
                  </a:lnTo>
                  <a:lnTo>
                    <a:pt x="150" y="10"/>
                  </a:lnTo>
                  <a:lnTo>
                    <a:pt x="148" y="8"/>
                  </a:lnTo>
                  <a:lnTo>
                    <a:pt x="146" y="4"/>
                  </a:lnTo>
                  <a:lnTo>
                    <a:pt x="144" y="3"/>
                  </a:lnTo>
                  <a:lnTo>
                    <a:pt x="142" y="1"/>
                  </a:lnTo>
                  <a:lnTo>
                    <a:pt x="139" y="1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29">
              <a:extLst>
                <a:ext uri="{FF2B5EF4-FFF2-40B4-BE49-F238E27FC236}">
                  <a16:creationId xmlns:a16="http://schemas.microsoft.com/office/drawing/2014/main" id="{67D92154-D809-4A24-ADBA-A184552F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788" y="2711450"/>
              <a:ext cx="28575" cy="11113"/>
            </a:xfrm>
            <a:custGeom>
              <a:avLst/>
              <a:gdLst>
                <a:gd name="T0" fmla="*/ 76 w 91"/>
                <a:gd name="T1" fmla="*/ 0 h 31"/>
                <a:gd name="T2" fmla="*/ 16 w 91"/>
                <a:gd name="T3" fmla="*/ 0 h 31"/>
                <a:gd name="T4" fmla="*/ 12 w 91"/>
                <a:gd name="T5" fmla="*/ 1 h 31"/>
                <a:gd name="T6" fmla="*/ 10 w 91"/>
                <a:gd name="T7" fmla="*/ 1 h 31"/>
                <a:gd name="T8" fmla="*/ 7 w 91"/>
                <a:gd name="T9" fmla="*/ 3 h 31"/>
                <a:gd name="T10" fmla="*/ 5 w 91"/>
                <a:gd name="T11" fmla="*/ 5 h 31"/>
                <a:gd name="T12" fmla="*/ 3 w 91"/>
                <a:gd name="T13" fmla="*/ 8 h 31"/>
                <a:gd name="T14" fmla="*/ 2 w 91"/>
                <a:gd name="T15" fmla="*/ 10 h 31"/>
                <a:gd name="T16" fmla="*/ 0 w 91"/>
                <a:gd name="T17" fmla="*/ 13 h 31"/>
                <a:gd name="T18" fmla="*/ 0 w 91"/>
                <a:gd name="T19" fmla="*/ 15 h 31"/>
                <a:gd name="T20" fmla="*/ 0 w 91"/>
                <a:gd name="T21" fmla="*/ 18 h 31"/>
                <a:gd name="T22" fmla="*/ 2 w 91"/>
                <a:gd name="T23" fmla="*/ 22 h 31"/>
                <a:gd name="T24" fmla="*/ 3 w 91"/>
                <a:gd name="T25" fmla="*/ 24 h 31"/>
                <a:gd name="T26" fmla="*/ 5 w 91"/>
                <a:gd name="T27" fmla="*/ 26 h 31"/>
                <a:gd name="T28" fmla="*/ 7 w 91"/>
                <a:gd name="T29" fmla="*/ 28 h 31"/>
                <a:gd name="T30" fmla="*/ 10 w 91"/>
                <a:gd name="T31" fmla="*/ 29 h 31"/>
                <a:gd name="T32" fmla="*/ 12 w 91"/>
                <a:gd name="T33" fmla="*/ 30 h 31"/>
                <a:gd name="T34" fmla="*/ 16 w 91"/>
                <a:gd name="T35" fmla="*/ 31 h 31"/>
                <a:gd name="T36" fmla="*/ 76 w 91"/>
                <a:gd name="T37" fmla="*/ 31 h 31"/>
                <a:gd name="T38" fmla="*/ 79 w 91"/>
                <a:gd name="T39" fmla="*/ 30 h 31"/>
                <a:gd name="T40" fmla="*/ 82 w 91"/>
                <a:gd name="T41" fmla="*/ 29 h 31"/>
                <a:gd name="T42" fmla="*/ 84 w 91"/>
                <a:gd name="T43" fmla="*/ 28 h 31"/>
                <a:gd name="T44" fmla="*/ 86 w 91"/>
                <a:gd name="T45" fmla="*/ 26 h 31"/>
                <a:gd name="T46" fmla="*/ 88 w 91"/>
                <a:gd name="T47" fmla="*/ 24 h 31"/>
                <a:gd name="T48" fmla="*/ 90 w 91"/>
                <a:gd name="T49" fmla="*/ 22 h 31"/>
                <a:gd name="T50" fmla="*/ 91 w 91"/>
                <a:gd name="T51" fmla="*/ 18 h 31"/>
                <a:gd name="T52" fmla="*/ 91 w 91"/>
                <a:gd name="T53" fmla="*/ 15 h 31"/>
                <a:gd name="T54" fmla="*/ 91 w 91"/>
                <a:gd name="T55" fmla="*/ 13 h 31"/>
                <a:gd name="T56" fmla="*/ 90 w 91"/>
                <a:gd name="T57" fmla="*/ 10 h 31"/>
                <a:gd name="T58" fmla="*/ 88 w 91"/>
                <a:gd name="T59" fmla="*/ 8 h 31"/>
                <a:gd name="T60" fmla="*/ 86 w 91"/>
                <a:gd name="T61" fmla="*/ 5 h 31"/>
                <a:gd name="T62" fmla="*/ 84 w 91"/>
                <a:gd name="T63" fmla="*/ 3 h 31"/>
                <a:gd name="T64" fmla="*/ 82 w 91"/>
                <a:gd name="T65" fmla="*/ 2 h 31"/>
                <a:gd name="T66" fmla="*/ 79 w 91"/>
                <a:gd name="T67" fmla="*/ 1 h 31"/>
                <a:gd name="T68" fmla="*/ 76 w 91"/>
                <a:gd name="T69" fmla="*/ 0 h 31"/>
                <a:gd name="T70" fmla="*/ 76 w 91"/>
                <a:gd name="T7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" h="31">
                  <a:moveTo>
                    <a:pt x="76" y="0"/>
                  </a:moveTo>
                  <a:lnTo>
                    <a:pt x="16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6" y="31"/>
                  </a:lnTo>
                  <a:lnTo>
                    <a:pt x="76" y="31"/>
                  </a:lnTo>
                  <a:lnTo>
                    <a:pt x="79" y="30"/>
                  </a:lnTo>
                  <a:lnTo>
                    <a:pt x="82" y="29"/>
                  </a:lnTo>
                  <a:lnTo>
                    <a:pt x="84" y="28"/>
                  </a:lnTo>
                  <a:lnTo>
                    <a:pt x="86" y="26"/>
                  </a:lnTo>
                  <a:lnTo>
                    <a:pt x="88" y="24"/>
                  </a:lnTo>
                  <a:lnTo>
                    <a:pt x="90" y="22"/>
                  </a:lnTo>
                  <a:lnTo>
                    <a:pt x="91" y="18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0" y="10"/>
                  </a:lnTo>
                  <a:lnTo>
                    <a:pt x="88" y="8"/>
                  </a:lnTo>
                  <a:lnTo>
                    <a:pt x="86" y="5"/>
                  </a:lnTo>
                  <a:lnTo>
                    <a:pt x="84" y="3"/>
                  </a:lnTo>
                  <a:lnTo>
                    <a:pt x="82" y="2"/>
                  </a:lnTo>
                  <a:lnTo>
                    <a:pt x="79" y="1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30">
              <a:extLst>
                <a:ext uri="{FF2B5EF4-FFF2-40B4-BE49-F238E27FC236}">
                  <a16:creationId xmlns:a16="http://schemas.microsoft.com/office/drawing/2014/main" id="{C331234E-9EA9-4C57-9933-731231499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313" y="2732088"/>
              <a:ext cx="19050" cy="9525"/>
            </a:xfrm>
            <a:custGeom>
              <a:avLst/>
              <a:gdLst>
                <a:gd name="T0" fmla="*/ 45 w 60"/>
                <a:gd name="T1" fmla="*/ 0 h 30"/>
                <a:gd name="T2" fmla="*/ 15 w 60"/>
                <a:gd name="T3" fmla="*/ 0 h 30"/>
                <a:gd name="T4" fmla="*/ 11 w 60"/>
                <a:gd name="T5" fmla="*/ 0 h 30"/>
                <a:gd name="T6" fmla="*/ 9 w 60"/>
                <a:gd name="T7" fmla="*/ 1 h 30"/>
                <a:gd name="T8" fmla="*/ 6 w 60"/>
                <a:gd name="T9" fmla="*/ 2 h 30"/>
                <a:gd name="T10" fmla="*/ 4 w 60"/>
                <a:gd name="T11" fmla="*/ 5 h 30"/>
                <a:gd name="T12" fmla="*/ 2 w 60"/>
                <a:gd name="T13" fmla="*/ 7 h 30"/>
                <a:gd name="T14" fmla="*/ 1 w 60"/>
                <a:gd name="T15" fmla="*/ 9 h 30"/>
                <a:gd name="T16" fmla="*/ 0 w 60"/>
                <a:gd name="T17" fmla="*/ 12 h 30"/>
                <a:gd name="T18" fmla="*/ 0 w 60"/>
                <a:gd name="T19" fmla="*/ 15 h 30"/>
                <a:gd name="T20" fmla="*/ 0 w 60"/>
                <a:gd name="T21" fmla="*/ 17 h 30"/>
                <a:gd name="T22" fmla="*/ 1 w 60"/>
                <a:gd name="T23" fmla="*/ 21 h 30"/>
                <a:gd name="T24" fmla="*/ 2 w 60"/>
                <a:gd name="T25" fmla="*/ 23 h 30"/>
                <a:gd name="T26" fmla="*/ 4 w 60"/>
                <a:gd name="T27" fmla="*/ 26 h 30"/>
                <a:gd name="T28" fmla="*/ 6 w 60"/>
                <a:gd name="T29" fmla="*/ 27 h 30"/>
                <a:gd name="T30" fmla="*/ 9 w 60"/>
                <a:gd name="T31" fmla="*/ 29 h 30"/>
                <a:gd name="T32" fmla="*/ 11 w 60"/>
                <a:gd name="T33" fmla="*/ 29 h 30"/>
                <a:gd name="T34" fmla="*/ 15 w 60"/>
                <a:gd name="T35" fmla="*/ 30 h 30"/>
                <a:gd name="T36" fmla="*/ 45 w 60"/>
                <a:gd name="T37" fmla="*/ 30 h 30"/>
                <a:gd name="T38" fmla="*/ 48 w 60"/>
                <a:gd name="T39" fmla="*/ 29 h 30"/>
                <a:gd name="T40" fmla="*/ 51 w 60"/>
                <a:gd name="T41" fmla="*/ 29 h 30"/>
                <a:gd name="T42" fmla="*/ 53 w 60"/>
                <a:gd name="T43" fmla="*/ 27 h 30"/>
                <a:gd name="T44" fmla="*/ 55 w 60"/>
                <a:gd name="T45" fmla="*/ 26 h 30"/>
                <a:gd name="T46" fmla="*/ 57 w 60"/>
                <a:gd name="T47" fmla="*/ 23 h 30"/>
                <a:gd name="T48" fmla="*/ 59 w 60"/>
                <a:gd name="T49" fmla="*/ 21 h 30"/>
                <a:gd name="T50" fmla="*/ 60 w 60"/>
                <a:gd name="T51" fmla="*/ 17 h 30"/>
                <a:gd name="T52" fmla="*/ 60 w 60"/>
                <a:gd name="T53" fmla="*/ 15 h 30"/>
                <a:gd name="T54" fmla="*/ 60 w 60"/>
                <a:gd name="T55" fmla="*/ 12 h 30"/>
                <a:gd name="T56" fmla="*/ 59 w 60"/>
                <a:gd name="T57" fmla="*/ 9 h 30"/>
                <a:gd name="T58" fmla="*/ 57 w 60"/>
                <a:gd name="T59" fmla="*/ 7 h 30"/>
                <a:gd name="T60" fmla="*/ 55 w 60"/>
                <a:gd name="T61" fmla="*/ 5 h 30"/>
                <a:gd name="T62" fmla="*/ 53 w 60"/>
                <a:gd name="T63" fmla="*/ 2 h 30"/>
                <a:gd name="T64" fmla="*/ 51 w 60"/>
                <a:gd name="T65" fmla="*/ 1 h 30"/>
                <a:gd name="T66" fmla="*/ 48 w 60"/>
                <a:gd name="T67" fmla="*/ 0 h 30"/>
                <a:gd name="T68" fmla="*/ 45 w 6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" h="30">
                  <a:moveTo>
                    <a:pt x="45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5" y="30"/>
                  </a:lnTo>
                  <a:lnTo>
                    <a:pt x="45" y="30"/>
                  </a:lnTo>
                  <a:lnTo>
                    <a:pt x="48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6"/>
                  </a:lnTo>
                  <a:lnTo>
                    <a:pt x="57" y="23"/>
                  </a:lnTo>
                  <a:lnTo>
                    <a:pt x="59" y="21"/>
                  </a:lnTo>
                  <a:lnTo>
                    <a:pt x="60" y="17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9" y="9"/>
                  </a:lnTo>
                  <a:lnTo>
                    <a:pt x="57" y="7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1"/>
                  </a:lnTo>
                  <a:lnTo>
                    <a:pt x="48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31">
              <a:extLst>
                <a:ext uri="{FF2B5EF4-FFF2-40B4-BE49-F238E27FC236}">
                  <a16:creationId xmlns:a16="http://schemas.microsoft.com/office/drawing/2014/main" id="{6ADA05A3-1293-46DC-8224-3676BC286D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3500" y="2530475"/>
              <a:ext cx="114300" cy="114300"/>
            </a:xfrm>
            <a:custGeom>
              <a:avLst/>
              <a:gdLst>
                <a:gd name="T0" fmla="*/ 167 w 362"/>
                <a:gd name="T1" fmla="*/ 103 h 362"/>
                <a:gd name="T2" fmla="*/ 169 w 362"/>
                <a:gd name="T3" fmla="*/ 98 h 362"/>
                <a:gd name="T4" fmla="*/ 172 w 362"/>
                <a:gd name="T5" fmla="*/ 94 h 362"/>
                <a:gd name="T6" fmla="*/ 177 w 362"/>
                <a:gd name="T7" fmla="*/ 92 h 362"/>
                <a:gd name="T8" fmla="*/ 184 w 362"/>
                <a:gd name="T9" fmla="*/ 92 h 362"/>
                <a:gd name="T10" fmla="*/ 189 w 362"/>
                <a:gd name="T11" fmla="*/ 94 h 362"/>
                <a:gd name="T12" fmla="*/ 193 w 362"/>
                <a:gd name="T13" fmla="*/ 98 h 362"/>
                <a:gd name="T14" fmla="*/ 196 w 362"/>
                <a:gd name="T15" fmla="*/ 103 h 362"/>
                <a:gd name="T16" fmla="*/ 196 w 362"/>
                <a:gd name="T17" fmla="*/ 181 h 362"/>
                <a:gd name="T18" fmla="*/ 244 w 362"/>
                <a:gd name="T19" fmla="*/ 182 h 362"/>
                <a:gd name="T20" fmla="*/ 249 w 362"/>
                <a:gd name="T21" fmla="*/ 184 h 362"/>
                <a:gd name="T22" fmla="*/ 254 w 362"/>
                <a:gd name="T23" fmla="*/ 188 h 362"/>
                <a:gd name="T24" fmla="*/ 256 w 362"/>
                <a:gd name="T25" fmla="*/ 193 h 362"/>
                <a:gd name="T26" fmla="*/ 256 w 362"/>
                <a:gd name="T27" fmla="*/ 199 h 362"/>
                <a:gd name="T28" fmla="*/ 254 w 362"/>
                <a:gd name="T29" fmla="*/ 204 h 362"/>
                <a:gd name="T30" fmla="*/ 249 w 362"/>
                <a:gd name="T31" fmla="*/ 208 h 362"/>
                <a:gd name="T32" fmla="*/ 244 w 362"/>
                <a:gd name="T33" fmla="*/ 211 h 362"/>
                <a:gd name="T34" fmla="*/ 181 w 362"/>
                <a:gd name="T35" fmla="*/ 212 h 362"/>
                <a:gd name="T36" fmla="*/ 175 w 362"/>
                <a:gd name="T37" fmla="*/ 211 h 362"/>
                <a:gd name="T38" fmla="*/ 170 w 362"/>
                <a:gd name="T39" fmla="*/ 206 h 362"/>
                <a:gd name="T40" fmla="*/ 167 w 362"/>
                <a:gd name="T41" fmla="*/ 202 h 362"/>
                <a:gd name="T42" fmla="*/ 166 w 362"/>
                <a:gd name="T43" fmla="*/ 197 h 362"/>
                <a:gd name="T44" fmla="*/ 181 w 362"/>
                <a:gd name="T45" fmla="*/ 362 h 362"/>
                <a:gd name="T46" fmla="*/ 217 w 362"/>
                <a:gd name="T47" fmla="*/ 359 h 362"/>
                <a:gd name="T48" fmla="*/ 251 w 362"/>
                <a:gd name="T49" fmla="*/ 348 h 362"/>
                <a:gd name="T50" fmla="*/ 281 w 362"/>
                <a:gd name="T51" fmla="*/ 331 h 362"/>
                <a:gd name="T52" fmla="*/ 308 w 362"/>
                <a:gd name="T53" fmla="*/ 309 h 362"/>
                <a:gd name="T54" fmla="*/ 331 w 362"/>
                <a:gd name="T55" fmla="*/ 282 h 362"/>
                <a:gd name="T56" fmla="*/ 347 w 362"/>
                <a:gd name="T57" fmla="*/ 251 h 362"/>
                <a:gd name="T58" fmla="*/ 358 w 362"/>
                <a:gd name="T59" fmla="*/ 217 h 362"/>
                <a:gd name="T60" fmla="*/ 362 w 362"/>
                <a:gd name="T61" fmla="*/ 182 h 362"/>
                <a:gd name="T62" fmla="*/ 358 w 362"/>
                <a:gd name="T63" fmla="*/ 145 h 362"/>
                <a:gd name="T64" fmla="*/ 347 w 362"/>
                <a:gd name="T65" fmla="*/ 111 h 362"/>
                <a:gd name="T66" fmla="*/ 331 w 362"/>
                <a:gd name="T67" fmla="*/ 80 h 362"/>
                <a:gd name="T68" fmla="*/ 308 w 362"/>
                <a:gd name="T69" fmla="*/ 53 h 362"/>
                <a:gd name="T70" fmla="*/ 281 w 362"/>
                <a:gd name="T71" fmla="*/ 31 h 362"/>
                <a:gd name="T72" fmla="*/ 251 w 362"/>
                <a:gd name="T73" fmla="*/ 14 h 362"/>
                <a:gd name="T74" fmla="*/ 217 w 362"/>
                <a:gd name="T75" fmla="*/ 5 h 362"/>
                <a:gd name="T76" fmla="*/ 181 w 362"/>
                <a:gd name="T77" fmla="*/ 0 h 362"/>
                <a:gd name="T78" fmla="*/ 144 w 362"/>
                <a:gd name="T79" fmla="*/ 5 h 362"/>
                <a:gd name="T80" fmla="*/ 111 w 362"/>
                <a:gd name="T81" fmla="*/ 14 h 362"/>
                <a:gd name="T82" fmla="*/ 80 w 362"/>
                <a:gd name="T83" fmla="*/ 31 h 362"/>
                <a:gd name="T84" fmla="*/ 53 w 362"/>
                <a:gd name="T85" fmla="*/ 53 h 362"/>
                <a:gd name="T86" fmla="*/ 32 w 362"/>
                <a:gd name="T87" fmla="*/ 80 h 362"/>
                <a:gd name="T88" fmla="*/ 14 w 362"/>
                <a:gd name="T89" fmla="*/ 111 h 362"/>
                <a:gd name="T90" fmla="*/ 4 w 362"/>
                <a:gd name="T91" fmla="*/ 145 h 362"/>
                <a:gd name="T92" fmla="*/ 0 w 362"/>
                <a:gd name="T93" fmla="*/ 182 h 362"/>
                <a:gd name="T94" fmla="*/ 4 w 362"/>
                <a:gd name="T95" fmla="*/ 217 h 362"/>
                <a:gd name="T96" fmla="*/ 14 w 362"/>
                <a:gd name="T97" fmla="*/ 251 h 362"/>
                <a:gd name="T98" fmla="*/ 32 w 362"/>
                <a:gd name="T99" fmla="*/ 282 h 362"/>
                <a:gd name="T100" fmla="*/ 53 w 362"/>
                <a:gd name="T101" fmla="*/ 309 h 362"/>
                <a:gd name="T102" fmla="*/ 80 w 362"/>
                <a:gd name="T103" fmla="*/ 331 h 362"/>
                <a:gd name="T104" fmla="*/ 111 w 362"/>
                <a:gd name="T105" fmla="*/ 348 h 362"/>
                <a:gd name="T106" fmla="*/ 144 w 362"/>
                <a:gd name="T107" fmla="*/ 359 h 362"/>
                <a:gd name="T108" fmla="*/ 181 w 362"/>
                <a:gd name="T10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2" h="362">
                  <a:moveTo>
                    <a:pt x="166" y="105"/>
                  </a:moveTo>
                  <a:lnTo>
                    <a:pt x="167" y="103"/>
                  </a:lnTo>
                  <a:lnTo>
                    <a:pt x="167" y="100"/>
                  </a:lnTo>
                  <a:lnTo>
                    <a:pt x="169" y="98"/>
                  </a:lnTo>
                  <a:lnTo>
                    <a:pt x="170" y="95"/>
                  </a:lnTo>
                  <a:lnTo>
                    <a:pt x="172" y="94"/>
                  </a:lnTo>
                  <a:lnTo>
                    <a:pt x="175" y="92"/>
                  </a:lnTo>
                  <a:lnTo>
                    <a:pt x="177" y="92"/>
                  </a:lnTo>
                  <a:lnTo>
                    <a:pt x="181" y="90"/>
                  </a:lnTo>
                  <a:lnTo>
                    <a:pt x="184" y="92"/>
                  </a:lnTo>
                  <a:lnTo>
                    <a:pt x="187" y="92"/>
                  </a:lnTo>
                  <a:lnTo>
                    <a:pt x="189" y="94"/>
                  </a:lnTo>
                  <a:lnTo>
                    <a:pt x="191" y="95"/>
                  </a:lnTo>
                  <a:lnTo>
                    <a:pt x="193" y="98"/>
                  </a:lnTo>
                  <a:lnTo>
                    <a:pt x="195" y="100"/>
                  </a:lnTo>
                  <a:lnTo>
                    <a:pt x="196" y="103"/>
                  </a:lnTo>
                  <a:lnTo>
                    <a:pt x="196" y="105"/>
                  </a:lnTo>
                  <a:lnTo>
                    <a:pt x="196" y="181"/>
                  </a:lnTo>
                  <a:lnTo>
                    <a:pt x="241" y="181"/>
                  </a:lnTo>
                  <a:lnTo>
                    <a:pt x="244" y="182"/>
                  </a:lnTo>
                  <a:lnTo>
                    <a:pt x="247" y="183"/>
                  </a:lnTo>
                  <a:lnTo>
                    <a:pt x="249" y="184"/>
                  </a:lnTo>
                  <a:lnTo>
                    <a:pt x="251" y="186"/>
                  </a:lnTo>
                  <a:lnTo>
                    <a:pt x="254" y="188"/>
                  </a:lnTo>
                  <a:lnTo>
                    <a:pt x="255" y="190"/>
                  </a:lnTo>
                  <a:lnTo>
                    <a:pt x="256" y="193"/>
                  </a:lnTo>
                  <a:lnTo>
                    <a:pt x="256" y="197"/>
                  </a:lnTo>
                  <a:lnTo>
                    <a:pt x="256" y="199"/>
                  </a:lnTo>
                  <a:lnTo>
                    <a:pt x="255" y="202"/>
                  </a:lnTo>
                  <a:lnTo>
                    <a:pt x="254" y="204"/>
                  </a:lnTo>
                  <a:lnTo>
                    <a:pt x="251" y="206"/>
                  </a:lnTo>
                  <a:lnTo>
                    <a:pt x="249" y="208"/>
                  </a:lnTo>
                  <a:lnTo>
                    <a:pt x="247" y="211"/>
                  </a:lnTo>
                  <a:lnTo>
                    <a:pt x="244" y="211"/>
                  </a:lnTo>
                  <a:lnTo>
                    <a:pt x="241" y="212"/>
                  </a:lnTo>
                  <a:lnTo>
                    <a:pt x="181" y="212"/>
                  </a:lnTo>
                  <a:lnTo>
                    <a:pt x="177" y="211"/>
                  </a:lnTo>
                  <a:lnTo>
                    <a:pt x="175" y="211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69" y="204"/>
                  </a:lnTo>
                  <a:lnTo>
                    <a:pt x="167" y="202"/>
                  </a:lnTo>
                  <a:lnTo>
                    <a:pt x="167" y="199"/>
                  </a:lnTo>
                  <a:lnTo>
                    <a:pt x="166" y="197"/>
                  </a:lnTo>
                  <a:lnTo>
                    <a:pt x="166" y="105"/>
                  </a:lnTo>
                  <a:close/>
                  <a:moveTo>
                    <a:pt x="181" y="362"/>
                  </a:moveTo>
                  <a:lnTo>
                    <a:pt x="200" y="361"/>
                  </a:lnTo>
                  <a:lnTo>
                    <a:pt x="217" y="359"/>
                  </a:lnTo>
                  <a:lnTo>
                    <a:pt x="234" y="353"/>
                  </a:lnTo>
                  <a:lnTo>
                    <a:pt x="251" y="348"/>
                  </a:lnTo>
                  <a:lnTo>
                    <a:pt x="268" y="340"/>
                  </a:lnTo>
                  <a:lnTo>
                    <a:pt x="281" y="331"/>
                  </a:lnTo>
                  <a:lnTo>
                    <a:pt x="295" y="320"/>
                  </a:lnTo>
                  <a:lnTo>
                    <a:pt x="308" y="309"/>
                  </a:lnTo>
                  <a:lnTo>
                    <a:pt x="320" y="296"/>
                  </a:lnTo>
                  <a:lnTo>
                    <a:pt x="331" y="282"/>
                  </a:lnTo>
                  <a:lnTo>
                    <a:pt x="339" y="267"/>
                  </a:lnTo>
                  <a:lnTo>
                    <a:pt x="347" y="251"/>
                  </a:lnTo>
                  <a:lnTo>
                    <a:pt x="353" y="235"/>
                  </a:lnTo>
                  <a:lnTo>
                    <a:pt x="358" y="217"/>
                  </a:lnTo>
                  <a:lnTo>
                    <a:pt x="361" y="200"/>
                  </a:lnTo>
                  <a:lnTo>
                    <a:pt x="362" y="182"/>
                  </a:lnTo>
                  <a:lnTo>
                    <a:pt x="361" y="162"/>
                  </a:lnTo>
                  <a:lnTo>
                    <a:pt x="358" y="145"/>
                  </a:lnTo>
                  <a:lnTo>
                    <a:pt x="353" y="127"/>
                  </a:lnTo>
                  <a:lnTo>
                    <a:pt x="347" y="111"/>
                  </a:lnTo>
                  <a:lnTo>
                    <a:pt x="339" y="95"/>
                  </a:lnTo>
                  <a:lnTo>
                    <a:pt x="331" y="80"/>
                  </a:lnTo>
                  <a:lnTo>
                    <a:pt x="320" y="66"/>
                  </a:lnTo>
                  <a:lnTo>
                    <a:pt x="308" y="53"/>
                  </a:lnTo>
                  <a:lnTo>
                    <a:pt x="295" y="42"/>
                  </a:lnTo>
                  <a:lnTo>
                    <a:pt x="281" y="31"/>
                  </a:lnTo>
                  <a:lnTo>
                    <a:pt x="268" y="22"/>
                  </a:lnTo>
                  <a:lnTo>
                    <a:pt x="251" y="14"/>
                  </a:lnTo>
                  <a:lnTo>
                    <a:pt x="234" y="9"/>
                  </a:lnTo>
                  <a:lnTo>
                    <a:pt x="217" y="5"/>
                  </a:lnTo>
                  <a:lnTo>
                    <a:pt x="200" y="1"/>
                  </a:lnTo>
                  <a:lnTo>
                    <a:pt x="181" y="0"/>
                  </a:lnTo>
                  <a:lnTo>
                    <a:pt x="162" y="1"/>
                  </a:lnTo>
                  <a:lnTo>
                    <a:pt x="144" y="5"/>
                  </a:lnTo>
                  <a:lnTo>
                    <a:pt x="127" y="9"/>
                  </a:lnTo>
                  <a:lnTo>
                    <a:pt x="111" y="14"/>
                  </a:lnTo>
                  <a:lnTo>
                    <a:pt x="95" y="22"/>
                  </a:lnTo>
                  <a:lnTo>
                    <a:pt x="80" y="31"/>
                  </a:lnTo>
                  <a:lnTo>
                    <a:pt x="66" y="42"/>
                  </a:lnTo>
                  <a:lnTo>
                    <a:pt x="53" y="53"/>
                  </a:lnTo>
                  <a:lnTo>
                    <a:pt x="41" y="66"/>
                  </a:lnTo>
                  <a:lnTo>
                    <a:pt x="32" y="80"/>
                  </a:lnTo>
                  <a:lnTo>
                    <a:pt x="22" y="95"/>
                  </a:lnTo>
                  <a:lnTo>
                    <a:pt x="14" y="111"/>
                  </a:lnTo>
                  <a:lnTo>
                    <a:pt x="8" y="128"/>
                  </a:lnTo>
                  <a:lnTo>
                    <a:pt x="4" y="145"/>
                  </a:lnTo>
                  <a:lnTo>
                    <a:pt x="2" y="162"/>
                  </a:lnTo>
                  <a:lnTo>
                    <a:pt x="0" y="182"/>
                  </a:lnTo>
                  <a:lnTo>
                    <a:pt x="2" y="200"/>
                  </a:lnTo>
                  <a:lnTo>
                    <a:pt x="4" y="217"/>
                  </a:lnTo>
                  <a:lnTo>
                    <a:pt x="8" y="235"/>
                  </a:lnTo>
                  <a:lnTo>
                    <a:pt x="14" y="251"/>
                  </a:lnTo>
                  <a:lnTo>
                    <a:pt x="22" y="267"/>
                  </a:lnTo>
                  <a:lnTo>
                    <a:pt x="32" y="282"/>
                  </a:lnTo>
                  <a:lnTo>
                    <a:pt x="41" y="296"/>
                  </a:lnTo>
                  <a:lnTo>
                    <a:pt x="53" y="309"/>
                  </a:lnTo>
                  <a:lnTo>
                    <a:pt x="66" y="320"/>
                  </a:lnTo>
                  <a:lnTo>
                    <a:pt x="80" y="331"/>
                  </a:lnTo>
                  <a:lnTo>
                    <a:pt x="95" y="340"/>
                  </a:lnTo>
                  <a:lnTo>
                    <a:pt x="111" y="348"/>
                  </a:lnTo>
                  <a:lnTo>
                    <a:pt x="127" y="353"/>
                  </a:lnTo>
                  <a:lnTo>
                    <a:pt x="144" y="359"/>
                  </a:lnTo>
                  <a:lnTo>
                    <a:pt x="162" y="361"/>
                  </a:lnTo>
                  <a:lnTo>
                    <a:pt x="181" y="3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32">
              <a:extLst>
                <a:ext uri="{FF2B5EF4-FFF2-40B4-BE49-F238E27FC236}">
                  <a16:creationId xmlns:a16="http://schemas.microsoft.com/office/drawing/2014/main" id="{FA4D6B7E-6F35-4229-B442-5A4006567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225" y="2732088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38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8 w 150"/>
                <a:gd name="T11" fmla="*/ 39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8 w 150"/>
                <a:gd name="T21" fmla="*/ 111 h 150"/>
                <a:gd name="T22" fmla="*/ 17 w 150"/>
                <a:gd name="T23" fmla="*/ 123 h 150"/>
                <a:gd name="T24" fmla="*/ 27 w 150"/>
                <a:gd name="T25" fmla="*/ 133 h 150"/>
                <a:gd name="T26" fmla="*/ 38 w 150"/>
                <a:gd name="T27" fmla="*/ 141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0 w 150"/>
                <a:gd name="T37" fmla="*/ 141 h 150"/>
                <a:gd name="T38" fmla="*/ 122 w 150"/>
                <a:gd name="T39" fmla="*/ 133 h 150"/>
                <a:gd name="T40" fmla="*/ 133 w 150"/>
                <a:gd name="T41" fmla="*/ 123 h 150"/>
                <a:gd name="T42" fmla="*/ 140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0 w 150"/>
                <a:gd name="T53" fmla="*/ 39 h 150"/>
                <a:gd name="T54" fmla="*/ 133 w 150"/>
                <a:gd name="T55" fmla="*/ 27 h 150"/>
                <a:gd name="T56" fmla="*/ 122 w 150"/>
                <a:gd name="T57" fmla="*/ 17 h 150"/>
                <a:gd name="T58" fmla="*/ 110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5" y="6"/>
                  </a:lnTo>
                  <a:lnTo>
                    <a:pt x="38" y="9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1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8" y="39"/>
                  </a:lnTo>
                  <a:lnTo>
                    <a:pt x="5" y="45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8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1" y="128"/>
                  </a:lnTo>
                  <a:lnTo>
                    <a:pt x="27" y="133"/>
                  </a:lnTo>
                  <a:lnTo>
                    <a:pt x="32" y="138"/>
                  </a:lnTo>
                  <a:lnTo>
                    <a:pt x="38" y="141"/>
                  </a:lnTo>
                  <a:lnTo>
                    <a:pt x="45" y="144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4"/>
                  </a:lnTo>
                  <a:lnTo>
                    <a:pt x="110" y="141"/>
                  </a:lnTo>
                  <a:lnTo>
                    <a:pt x="117" y="138"/>
                  </a:lnTo>
                  <a:lnTo>
                    <a:pt x="122" y="133"/>
                  </a:lnTo>
                  <a:lnTo>
                    <a:pt x="127" y="128"/>
                  </a:lnTo>
                  <a:lnTo>
                    <a:pt x="133" y="123"/>
                  </a:lnTo>
                  <a:lnTo>
                    <a:pt x="137" y="117"/>
                  </a:lnTo>
                  <a:lnTo>
                    <a:pt x="140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5"/>
                  </a:lnTo>
                  <a:lnTo>
                    <a:pt x="140" y="39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0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33">
              <a:extLst>
                <a:ext uri="{FF2B5EF4-FFF2-40B4-BE49-F238E27FC236}">
                  <a16:creationId xmlns:a16="http://schemas.microsoft.com/office/drawing/2014/main" id="{6D3DD28D-52F5-4B38-8390-DDA8AD25B3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238" y="2654300"/>
              <a:ext cx="96838" cy="106363"/>
            </a:xfrm>
            <a:custGeom>
              <a:avLst/>
              <a:gdLst>
                <a:gd name="T0" fmla="*/ 30 w 301"/>
                <a:gd name="T1" fmla="*/ 30 h 331"/>
                <a:gd name="T2" fmla="*/ 250 w 301"/>
                <a:gd name="T3" fmla="*/ 150 h 331"/>
                <a:gd name="T4" fmla="*/ 301 w 301"/>
                <a:gd name="T5" fmla="*/ 165 h 331"/>
                <a:gd name="T6" fmla="*/ 300 w 301"/>
                <a:gd name="T7" fmla="*/ 161 h 331"/>
                <a:gd name="T8" fmla="*/ 300 w 301"/>
                <a:gd name="T9" fmla="*/ 160 h 331"/>
                <a:gd name="T10" fmla="*/ 297 w 301"/>
                <a:gd name="T11" fmla="*/ 155 h 331"/>
                <a:gd name="T12" fmla="*/ 297 w 301"/>
                <a:gd name="T13" fmla="*/ 155 h 331"/>
                <a:gd name="T14" fmla="*/ 144 w 301"/>
                <a:gd name="T15" fmla="*/ 2 h 331"/>
                <a:gd name="T16" fmla="*/ 138 w 301"/>
                <a:gd name="T17" fmla="*/ 0 h 331"/>
                <a:gd name="T18" fmla="*/ 15 w 301"/>
                <a:gd name="T19" fmla="*/ 0 h 331"/>
                <a:gd name="T20" fmla="*/ 10 w 301"/>
                <a:gd name="T21" fmla="*/ 1 h 331"/>
                <a:gd name="T22" fmla="*/ 4 w 301"/>
                <a:gd name="T23" fmla="*/ 4 h 331"/>
                <a:gd name="T24" fmla="*/ 1 w 301"/>
                <a:gd name="T25" fmla="*/ 10 h 331"/>
                <a:gd name="T26" fmla="*/ 0 w 301"/>
                <a:gd name="T27" fmla="*/ 15 h 331"/>
                <a:gd name="T28" fmla="*/ 0 w 301"/>
                <a:gd name="T29" fmla="*/ 316 h 331"/>
                <a:gd name="T30" fmla="*/ 1 w 301"/>
                <a:gd name="T31" fmla="*/ 322 h 331"/>
                <a:gd name="T32" fmla="*/ 4 w 301"/>
                <a:gd name="T33" fmla="*/ 327 h 331"/>
                <a:gd name="T34" fmla="*/ 10 w 301"/>
                <a:gd name="T35" fmla="*/ 330 h 331"/>
                <a:gd name="T36" fmla="*/ 15 w 301"/>
                <a:gd name="T37" fmla="*/ 331 h 331"/>
                <a:gd name="T38" fmla="*/ 31 w 301"/>
                <a:gd name="T39" fmla="*/ 324 h 331"/>
                <a:gd name="T40" fmla="*/ 31 w 301"/>
                <a:gd name="T41" fmla="*/ 306 h 331"/>
                <a:gd name="T42" fmla="*/ 35 w 301"/>
                <a:gd name="T43" fmla="*/ 285 h 331"/>
                <a:gd name="T44" fmla="*/ 43 w 301"/>
                <a:gd name="T45" fmla="*/ 266 h 331"/>
                <a:gd name="T46" fmla="*/ 55 w 301"/>
                <a:gd name="T47" fmla="*/ 249 h 331"/>
                <a:gd name="T48" fmla="*/ 69 w 301"/>
                <a:gd name="T49" fmla="*/ 235 h 331"/>
                <a:gd name="T50" fmla="*/ 86 w 301"/>
                <a:gd name="T51" fmla="*/ 223 h 331"/>
                <a:gd name="T52" fmla="*/ 104 w 301"/>
                <a:gd name="T53" fmla="*/ 215 h 331"/>
                <a:gd name="T54" fmla="*/ 126 w 301"/>
                <a:gd name="T55" fmla="*/ 211 h 331"/>
                <a:gd name="T56" fmla="*/ 147 w 301"/>
                <a:gd name="T57" fmla="*/ 211 h 331"/>
                <a:gd name="T58" fmla="*/ 167 w 301"/>
                <a:gd name="T59" fmla="*/ 215 h 331"/>
                <a:gd name="T60" fmla="*/ 186 w 301"/>
                <a:gd name="T61" fmla="*/ 223 h 331"/>
                <a:gd name="T62" fmla="*/ 203 w 301"/>
                <a:gd name="T63" fmla="*/ 235 h 331"/>
                <a:gd name="T64" fmla="*/ 217 w 301"/>
                <a:gd name="T65" fmla="*/ 249 h 331"/>
                <a:gd name="T66" fmla="*/ 229 w 301"/>
                <a:gd name="T67" fmla="*/ 266 h 331"/>
                <a:gd name="T68" fmla="*/ 236 w 301"/>
                <a:gd name="T69" fmla="*/ 285 h 331"/>
                <a:gd name="T70" fmla="*/ 240 w 301"/>
                <a:gd name="T71" fmla="*/ 306 h 331"/>
                <a:gd name="T72" fmla="*/ 241 w 301"/>
                <a:gd name="T73" fmla="*/ 324 h 331"/>
                <a:gd name="T74" fmla="*/ 286 w 301"/>
                <a:gd name="T75" fmla="*/ 331 h 331"/>
                <a:gd name="T76" fmla="*/ 292 w 301"/>
                <a:gd name="T77" fmla="*/ 330 h 331"/>
                <a:gd name="T78" fmla="*/ 297 w 301"/>
                <a:gd name="T79" fmla="*/ 327 h 331"/>
                <a:gd name="T80" fmla="*/ 300 w 301"/>
                <a:gd name="T81" fmla="*/ 322 h 331"/>
                <a:gd name="T82" fmla="*/ 301 w 301"/>
                <a:gd name="T83" fmla="*/ 316 h 331"/>
                <a:gd name="T84" fmla="*/ 301 w 301"/>
                <a:gd name="T85" fmla="*/ 165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331">
                  <a:moveTo>
                    <a:pt x="30" y="150"/>
                  </a:moveTo>
                  <a:lnTo>
                    <a:pt x="30" y="30"/>
                  </a:lnTo>
                  <a:lnTo>
                    <a:pt x="130" y="30"/>
                  </a:lnTo>
                  <a:lnTo>
                    <a:pt x="250" y="150"/>
                  </a:lnTo>
                  <a:lnTo>
                    <a:pt x="30" y="150"/>
                  </a:lnTo>
                  <a:close/>
                  <a:moveTo>
                    <a:pt x="301" y="165"/>
                  </a:moveTo>
                  <a:lnTo>
                    <a:pt x="300" y="163"/>
                  </a:lnTo>
                  <a:lnTo>
                    <a:pt x="300" y="161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8" y="156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147" y="4"/>
                  </a:lnTo>
                  <a:lnTo>
                    <a:pt x="144" y="2"/>
                  </a:lnTo>
                  <a:lnTo>
                    <a:pt x="142" y="1"/>
                  </a:lnTo>
                  <a:lnTo>
                    <a:pt x="138" y="0"/>
                  </a:lnTo>
                  <a:lnTo>
                    <a:pt x="13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65"/>
                  </a:lnTo>
                  <a:lnTo>
                    <a:pt x="0" y="316"/>
                  </a:lnTo>
                  <a:lnTo>
                    <a:pt x="1" y="320"/>
                  </a:lnTo>
                  <a:lnTo>
                    <a:pt x="1" y="322"/>
                  </a:lnTo>
                  <a:lnTo>
                    <a:pt x="3" y="325"/>
                  </a:lnTo>
                  <a:lnTo>
                    <a:pt x="4" y="327"/>
                  </a:lnTo>
                  <a:lnTo>
                    <a:pt x="7" y="328"/>
                  </a:lnTo>
                  <a:lnTo>
                    <a:pt x="10" y="330"/>
                  </a:lnTo>
                  <a:lnTo>
                    <a:pt x="12" y="331"/>
                  </a:lnTo>
                  <a:lnTo>
                    <a:pt x="15" y="331"/>
                  </a:lnTo>
                  <a:lnTo>
                    <a:pt x="31" y="331"/>
                  </a:lnTo>
                  <a:lnTo>
                    <a:pt x="31" y="324"/>
                  </a:lnTo>
                  <a:lnTo>
                    <a:pt x="30" y="316"/>
                  </a:lnTo>
                  <a:lnTo>
                    <a:pt x="31" y="306"/>
                  </a:lnTo>
                  <a:lnTo>
                    <a:pt x="32" y="295"/>
                  </a:lnTo>
                  <a:lnTo>
                    <a:pt x="35" y="285"/>
                  </a:lnTo>
                  <a:lnTo>
                    <a:pt x="39" y="276"/>
                  </a:lnTo>
                  <a:lnTo>
                    <a:pt x="43" y="266"/>
                  </a:lnTo>
                  <a:lnTo>
                    <a:pt x="48" y="257"/>
                  </a:lnTo>
                  <a:lnTo>
                    <a:pt x="55" y="249"/>
                  </a:lnTo>
                  <a:lnTo>
                    <a:pt x="61" y="241"/>
                  </a:lnTo>
                  <a:lnTo>
                    <a:pt x="69" y="235"/>
                  </a:lnTo>
                  <a:lnTo>
                    <a:pt x="77" y="228"/>
                  </a:lnTo>
                  <a:lnTo>
                    <a:pt x="86" y="223"/>
                  </a:lnTo>
                  <a:lnTo>
                    <a:pt x="94" y="219"/>
                  </a:lnTo>
                  <a:lnTo>
                    <a:pt x="104" y="215"/>
                  </a:lnTo>
                  <a:lnTo>
                    <a:pt x="115" y="213"/>
                  </a:lnTo>
                  <a:lnTo>
                    <a:pt x="126" y="211"/>
                  </a:lnTo>
                  <a:lnTo>
                    <a:pt x="136" y="211"/>
                  </a:lnTo>
                  <a:lnTo>
                    <a:pt x="147" y="211"/>
                  </a:lnTo>
                  <a:lnTo>
                    <a:pt x="157" y="213"/>
                  </a:lnTo>
                  <a:lnTo>
                    <a:pt x="167" y="215"/>
                  </a:lnTo>
                  <a:lnTo>
                    <a:pt x="177" y="219"/>
                  </a:lnTo>
                  <a:lnTo>
                    <a:pt x="186" y="223"/>
                  </a:lnTo>
                  <a:lnTo>
                    <a:pt x="194" y="228"/>
                  </a:lnTo>
                  <a:lnTo>
                    <a:pt x="203" y="235"/>
                  </a:lnTo>
                  <a:lnTo>
                    <a:pt x="210" y="241"/>
                  </a:lnTo>
                  <a:lnTo>
                    <a:pt x="217" y="249"/>
                  </a:lnTo>
                  <a:lnTo>
                    <a:pt x="223" y="257"/>
                  </a:lnTo>
                  <a:lnTo>
                    <a:pt x="229" y="266"/>
                  </a:lnTo>
                  <a:lnTo>
                    <a:pt x="233" y="276"/>
                  </a:lnTo>
                  <a:lnTo>
                    <a:pt x="236" y="285"/>
                  </a:lnTo>
                  <a:lnTo>
                    <a:pt x="239" y="295"/>
                  </a:lnTo>
                  <a:lnTo>
                    <a:pt x="240" y="306"/>
                  </a:lnTo>
                  <a:lnTo>
                    <a:pt x="241" y="316"/>
                  </a:lnTo>
                  <a:lnTo>
                    <a:pt x="241" y="324"/>
                  </a:lnTo>
                  <a:lnTo>
                    <a:pt x="240" y="331"/>
                  </a:lnTo>
                  <a:lnTo>
                    <a:pt x="286" y="331"/>
                  </a:lnTo>
                  <a:lnTo>
                    <a:pt x="290" y="330"/>
                  </a:lnTo>
                  <a:lnTo>
                    <a:pt x="292" y="330"/>
                  </a:lnTo>
                  <a:lnTo>
                    <a:pt x="295" y="328"/>
                  </a:lnTo>
                  <a:lnTo>
                    <a:pt x="297" y="327"/>
                  </a:lnTo>
                  <a:lnTo>
                    <a:pt x="299" y="325"/>
                  </a:lnTo>
                  <a:lnTo>
                    <a:pt x="300" y="322"/>
                  </a:lnTo>
                  <a:lnTo>
                    <a:pt x="301" y="320"/>
                  </a:lnTo>
                  <a:lnTo>
                    <a:pt x="301" y="316"/>
                  </a:lnTo>
                  <a:lnTo>
                    <a:pt x="301" y="165"/>
                  </a:lnTo>
                  <a:lnTo>
                    <a:pt x="301" y="165"/>
                  </a:lnTo>
                  <a:lnTo>
                    <a:pt x="301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34">
              <a:extLst>
                <a:ext uri="{FF2B5EF4-FFF2-40B4-BE49-F238E27FC236}">
                  <a16:creationId xmlns:a16="http://schemas.microsoft.com/office/drawing/2014/main" id="{2D77E4FC-731D-463A-A8FC-DC45F2A0E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732088"/>
              <a:ext cx="49213" cy="47625"/>
            </a:xfrm>
            <a:custGeom>
              <a:avLst/>
              <a:gdLst>
                <a:gd name="T0" fmla="*/ 68 w 151"/>
                <a:gd name="T1" fmla="*/ 0 h 150"/>
                <a:gd name="T2" fmla="*/ 54 w 151"/>
                <a:gd name="T3" fmla="*/ 3 h 150"/>
                <a:gd name="T4" fmla="*/ 40 w 151"/>
                <a:gd name="T5" fmla="*/ 9 h 150"/>
                <a:gd name="T6" fmla="*/ 28 w 151"/>
                <a:gd name="T7" fmla="*/ 17 h 150"/>
                <a:gd name="T8" fmla="*/ 17 w 151"/>
                <a:gd name="T9" fmla="*/ 27 h 150"/>
                <a:gd name="T10" fmla="*/ 10 w 151"/>
                <a:gd name="T11" fmla="*/ 39 h 150"/>
                <a:gd name="T12" fmla="*/ 4 w 151"/>
                <a:gd name="T13" fmla="*/ 53 h 150"/>
                <a:gd name="T14" fmla="*/ 1 w 151"/>
                <a:gd name="T15" fmla="*/ 68 h 150"/>
                <a:gd name="T16" fmla="*/ 1 w 151"/>
                <a:gd name="T17" fmla="*/ 83 h 150"/>
                <a:gd name="T18" fmla="*/ 4 w 151"/>
                <a:gd name="T19" fmla="*/ 98 h 150"/>
                <a:gd name="T20" fmla="*/ 10 w 151"/>
                <a:gd name="T21" fmla="*/ 111 h 150"/>
                <a:gd name="T22" fmla="*/ 17 w 151"/>
                <a:gd name="T23" fmla="*/ 123 h 150"/>
                <a:gd name="T24" fmla="*/ 28 w 151"/>
                <a:gd name="T25" fmla="*/ 133 h 150"/>
                <a:gd name="T26" fmla="*/ 40 w 151"/>
                <a:gd name="T27" fmla="*/ 141 h 150"/>
                <a:gd name="T28" fmla="*/ 54 w 151"/>
                <a:gd name="T29" fmla="*/ 147 h 150"/>
                <a:gd name="T30" fmla="*/ 68 w 151"/>
                <a:gd name="T31" fmla="*/ 150 h 150"/>
                <a:gd name="T32" fmla="*/ 84 w 151"/>
                <a:gd name="T33" fmla="*/ 150 h 150"/>
                <a:gd name="T34" fmla="*/ 98 w 151"/>
                <a:gd name="T35" fmla="*/ 147 h 150"/>
                <a:gd name="T36" fmla="*/ 112 w 151"/>
                <a:gd name="T37" fmla="*/ 141 h 150"/>
                <a:gd name="T38" fmla="*/ 124 w 151"/>
                <a:gd name="T39" fmla="*/ 133 h 150"/>
                <a:gd name="T40" fmla="*/ 134 w 151"/>
                <a:gd name="T41" fmla="*/ 123 h 150"/>
                <a:gd name="T42" fmla="*/ 142 w 151"/>
                <a:gd name="T43" fmla="*/ 111 h 150"/>
                <a:gd name="T44" fmla="*/ 148 w 151"/>
                <a:gd name="T45" fmla="*/ 98 h 150"/>
                <a:gd name="T46" fmla="*/ 150 w 151"/>
                <a:gd name="T47" fmla="*/ 83 h 150"/>
                <a:gd name="T48" fmla="*/ 150 w 151"/>
                <a:gd name="T49" fmla="*/ 68 h 150"/>
                <a:gd name="T50" fmla="*/ 148 w 151"/>
                <a:gd name="T51" fmla="*/ 53 h 150"/>
                <a:gd name="T52" fmla="*/ 142 w 151"/>
                <a:gd name="T53" fmla="*/ 39 h 150"/>
                <a:gd name="T54" fmla="*/ 134 w 151"/>
                <a:gd name="T55" fmla="*/ 27 h 150"/>
                <a:gd name="T56" fmla="*/ 124 w 151"/>
                <a:gd name="T57" fmla="*/ 17 h 150"/>
                <a:gd name="T58" fmla="*/ 112 w 151"/>
                <a:gd name="T59" fmla="*/ 9 h 150"/>
                <a:gd name="T60" fmla="*/ 98 w 151"/>
                <a:gd name="T61" fmla="*/ 3 h 150"/>
                <a:gd name="T62" fmla="*/ 84 w 151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1" h="150">
                  <a:moveTo>
                    <a:pt x="76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4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3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7" y="45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1" y="68"/>
                  </a:lnTo>
                  <a:lnTo>
                    <a:pt x="0" y="75"/>
                  </a:lnTo>
                  <a:lnTo>
                    <a:pt x="1" y="83"/>
                  </a:lnTo>
                  <a:lnTo>
                    <a:pt x="2" y="90"/>
                  </a:lnTo>
                  <a:lnTo>
                    <a:pt x="4" y="98"/>
                  </a:lnTo>
                  <a:lnTo>
                    <a:pt x="7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3" y="128"/>
                  </a:lnTo>
                  <a:lnTo>
                    <a:pt x="28" y="133"/>
                  </a:lnTo>
                  <a:lnTo>
                    <a:pt x="33" y="138"/>
                  </a:lnTo>
                  <a:lnTo>
                    <a:pt x="40" y="141"/>
                  </a:lnTo>
                  <a:lnTo>
                    <a:pt x="46" y="144"/>
                  </a:lnTo>
                  <a:lnTo>
                    <a:pt x="54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6" y="150"/>
                  </a:lnTo>
                  <a:lnTo>
                    <a:pt x="84" y="150"/>
                  </a:lnTo>
                  <a:lnTo>
                    <a:pt x="91" y="149"/>
                  </a:lnTo>
                  <a:lnTo>
                    <a:pt x="98" y="147"/>
                  </a:lnTo>
                  <a:lnTo>
                    <a:pt x="105" y="144"/>
                  </a:lnTo>
                  <a:lnTo>
                    <a:pt x="112" y="141"/>
                  </a:lnTo>
                  <a:lnTo>
                    <a:pt x="118" y="138"/>
                  </a:lnTo>
                  <a:lnTo>
                    <a:pt x="124" y="133"/>
                  </a:lnTo>
                  <a:lnTo>
                    <a:pt x="129" y="128"/>
                  </a:lnTo>
                  <a:lnTo>
                    <a:pt x="134" y="123"/>
                  </a:lnTo>
                  <a:lnTo>
                    <a:pt x="139" y="117"/>
                  </a:lnTo>
                  <a:lnTo>
                    <a:pt x="142" y="111"/>
                  </a:lnTo>
                  <a:lnTo>
                    <a:pt x="145" y="104"/>
                  </a:lnTo>
                  <a:lnTo>
                    <a:pt x="148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1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8" y="53"/>
                  </a:lnTo>
                  <a:lnTo>
                    <a:pt x="145" y="45"/>
                  </a:lnTo>
                  <a:lnTo>
                    <a:pt x="142" y="39"/>
                  </a:lnTo>
                  <a:lnTo>
                    <a:pt x="139" y="33"/>
                  </a:lnTo>
                  <a:lnTo>
                    <a:pt x="134" y="27"/>
                  </a:lnTo>
                  <a:lnTo>
                    <a:pt x="129" y="22"/>
                  </a:lnTo>
                  <a:lnTo>
                    <a:pt x="124" y="17"/>
                  </a:lnTo>
                  <a:lnTo>
                    <a:pt x="118" y="13"/>
                  </a:lnTo>
                  <a:lnTo>
                    <a:pt x="112" y="9"/>
                  </a:lnTo>
                  <a:lnTo>
                    <a:pt x="105" y="6"/>
                  </a:lnTo>
                  <a:lnTo>
                    <a:pt x="98" y="3"/>
                  </a:lnTo>
                  <a:lnTo>
                    <a:pt x="91" y="1"/>
                  </a:lnTo>
                  <a:lnTo>
                    <a:pt x="84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B0D6CB8-AC72-4E61-ACE6-A612058C5428}"/>
              </a:ext>
            </a:extLst>
          </p:cNvPr>
          <p:cNvGrpSpPr/>
          <p:nvPr/>
        </p:nvGrpSpPr>
        <p:grpSpPr>
          <a:xfrm>
            <a:off x="10517781" y="5490346"/>
            <a:ext cx="285750" cy="238125"/>
            <a:chOff x="9883775" y="857250"/>
            <a:chExt cx="285750" cy="238125"/>
          </a:xfrm>
          <a:solidFill>
            <a:srgbClr val="A6A6A6"/>
          </a:solidFill>
        </p:grpSpPr>
        <p:sp>
          <p:nvSpPr>
            <p:cNvPr id="81" name="Freeform 4137">
              <a:extLst>
                <a:ext uri="{FF2B5EF4-FFF2-40B4-BE49-F238E27FC236}">
                  <a16:creationId xmlns:a16="http://schemas.microsoft.com/office/drawing/2014/main" id="{187AEF94-AB0E-44BE-B416-0EAC34227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3775" y="857250"/>
              <a:ext cx="285750" cy="180975"/>
            </a:xfrm>
            <a:custGeom>
              <a:avLst/>
              <a:gdLst>
                <a:gd name="T0" fmla="*/ 790 w 901"/>
                <a:gd name="T1" fmla="*/ 0 h 571"/>
                <a:gd name="T2" fmla="*/ 777 w 901"/>
                <a:gd name="T3" fmla="*/ 2 h 571"/>
                <a:gd name="T4" fmla="*/ 767 w 901"/>
                <a:gd name="T5" fmla="*/ 8 h 571"/>
                <a:gd name="T6" fmla="*/ 760 w 901"/>
                <a:gd name="T7" fmla="*/ 18 h 571"/>
                <a:gd name="T8" fmla="*/ 755 w 901"/>
                <a:gd name="T9" fmla="*/ 30 h 571"/>
                <a:gd name="T10" fmla="*/ 744 w 901"/>
                <a:gd name="T11" fmla="*/ 122 h 571"/>
                <a:gd name="T12" fmla="*/ 742 w 901"/>
                <a:gd name="T13" fmla="*/ 136 h 571"/>
                <a:gd name="T14" fmla="*/ 735 w 901"/>
                <a:gd name="T15" fmla="*/ 147 h 571"/>
                <a:gd name="T16" fmla="*/ 723 w 901"/>
                <a:gd name="T17" fmla="*/ 150 h 571"/>
                <a:gd name="T18" fmla="*/ 62 w 901"/>
                <a:gd name="T19" fmla="*/ 151 h 571"/>
                <a:gd name="T20" fmla="*/ 46 w 901"/>
                <a:gd name="T21" fmla="*/ 156 h 571"/>
                <a:gd name="T22" fmla="*/ 31 w 901"/>
                <a:gd name="T23" fmla="*/ 164 h 571"/>
                <a:gd name="T24" fmla="*/ 19 w 901"/>
                <a:gd name="T25" fmla="*/ 175 h 571"/>
                <a:gd name="T26" fmla="*/ 9 w 901"/>
                <a:gd name="T27" fmla="*/ 188 h 571"/>
                <a:gd name="T28" fmla="*/ 3 w 901"/>
                <a:gd name="T29" fmla="*/ 203 h 571"/>
                <a:gd name="T30" fmla="*/ 0 w 901"/>
                <a:gd name="T31" fmla="*/ 220 h 571"/>
                <a:gd name="T32" fmla="*/ 1 w 901"/>
                <a:gd name="T33" fmla="*/ 237 h 571"/>
                <a:gd name="T34" fmla="*/ 62 w 901"/>
                <a:gd name="T35" fmla="*/ 434 h 571"/>
                <a:gd name="T36" fmla="*/ 72 w 901"/>
                <a:gd name="T37" fmla="*/ 453 h 571"/>
                <a:gd name="T38" fmla="*/ 87 w 901"/>
                <a:gd name="T39" fmla="*/ 468 h 571"/>
                <a:gd name="T40" fmla="*/ 106 w 901"/>
                <a:gd name="T41" fmla="*/ 478 h 571"/>
                <a:gd name="T42" fmla="*/ 127 w 901"/>
                <a:gd name="T43" fmla="*/ 481 h 571"/>
                <a:gd name="T44" fmla="*/ 136 w 901"/>
                <a:gd name="T45" fmla="*/ 481 h 571"/>
                <a:gd name="T46" fmla="*/ 680 w 901"/>
                <a:gd name="T47" fmla="*/ 482 h 571"/>
                <a:gd name="T48" fmla="*/ 686 w 901"/>
                <a:gd name="T49" fmla="*/ 489 h 571"/>
                <a:gd name="T50" fmla="*/ 690 w 901"/>
                <a:gd name="T51" fmla="*/ 501 h 571"/>
                <a:gd name="T52" fmla="*/ 691 w 901"/>
                <a:gd name="T53" fmla="*/ 516 h 571"/>
                <a:gd name="T54" fmla="*/ 689 w 901"/>
                <a:gd name="T55" fmla="*/ 525 h 571"/>
                <a:gd name="T56" fmla="*/ 685 w 901"/>
                <a:gd name="T57" fmla="*/ 533 h 571"/>
                <a:gd name="T58" fmla="*/ 678 w 901"/>
                <a:gd name="T59" fmla="*/ 538 h 571"/>
                <a:gd name="T60" fmla="*/ 148 w 901"/>
                <a:gd name="T61" fmla="*/ 541 h 571"/>
                <a:gd name="T62" fmla="*/ 141 w 901"/>
                <a:gd name="T63" fmla="*/ 542 h 571"/>
                <a:gd name="T64" fmla="*/ 137 w 901"/>
                <a:gd name="T65" fmla="*/ 545 h 571"/>
                <a:gd name="T66" fmla="*/ 134 w 901"/>
                <a:gd name="T67" fmla="*/ 550 h 571"/>
                <a:gd name="T68" fmla="*/ 133 w 901"/>
                <a:gd name="T69" fmla="*/ 556 h 571"/>
                <a:gd name="T70" fmla="*/ 134 w 901"/>
                <a:gd name="T71" fmla="*/ 562 h 571"/>
                <a:gd name="T72" fmla="*/ 137 w 901"/>
                <a:gd name="T73" fmla="*/ 567 h 571"/>
                <a:gd name="T74" fmla="*/ 141 w 901"/>
                <a:gd name="T75" fmla="*/ 570 h 571"/>
                <a:gd name="T76" fmla="*/ 148 w 901"/>
                <a:gd name="T77" fmla="*/ 571 h 571"/>
                <a:gd name="T78" fmla="*/ 685 w 901"/>
                <a:gd name="T79" fmla="*/ 569 h 571"/>
                <a:gd name="T80" fmla="*/ 701 w 901"/>
                <a:gd name="T81" fmla="*/ 558 h 571"/>
                <a:gd name="T82" fmla="*/ 713 w 901"/>
                <a:gd name="T83" fmla="*/ 545 h 571"/>
                <a:gd name="T84" fmla="*/ 719 w 901"/>
                <a:gd name="T85" fmla="*/ 530 h 571"/>
                <a:gd name="T86" fmla="*/ 721 w 901"/>
                <a:gd name="T87" fmla="*/ 511 h 571"/>
                <a:gd name="T88" fmla="*/ 720 w 901"/>
                <a:gd name="T89" fmla="*/ 499 h 571"/>
                <a:gd name="T90" fmla="*/ 772 w 901"/>
                <a:gd name="T91" fmla="*/ 138 h 571"/>
                <a:gd name="T92" fmla="*/ 785 w 901"/>
                <a:gd name="T93" fmla="*/ 33 h 571"/>
                <a:gd name="T94" fmla="*/ 790 w 901"/>
                <a:gd name="T95" fmla="*/ 30 h 571"/>
                <a:gd name="T96" fmla="*/ 889 w 901"/>
                <a:gd name="T97" fmla="*/ 30 h 571"/>
                <a:gd name="T98" fmla="*/ 895 w 901"/>
                <a:gd name="T99" fmla="*/ 28 h 571"/>
                <a:gd name="T100" fmla="*/ 899 w 901"/>
                <a:gd name="T101" fmla="*/ 23 h 571"/>
                <a:gd name="T102" fmla="*/ 901 w 901"/>
                <a:gd name="T103" fmla="*/ 18 h 571"/>
                <a:gd name="T104" fmla="*/ 901 w 901"/>
                <a:gd name="T105" fmla="*/ 12 h 571"/>
                <a:gd name="T106" fmla="*/ 899 w 901"/>
                <a:gd name="T107" fmla="*/ 6 h 571"/>
                <a:gd name="T108" fmla="*/ 895 w 901"/>
                <a:gd name="T109" fmla="*/ 3 h 571"/>
                <a:gd name="T110" fmla="*/ 889 w 901"/>
                <a:gd name="T111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01" h="571">
                  <a:moveTo>
                    <a:pt x="886" y="0"/>
                  </a:moveTo>
                  <a:lnTo>
                    <a:pt x="790" y="0"/>
                  </a:lnTo>
                  <a:lnTo>
                    <a:pt x="783" y="1"/>
                  </a:lnTo>
                  <a:lnTo>
                    <a:pt x="777" y="2"/>
                  </a:lnTo>
                  <a:lnTo>
                    <a:pt x="772" y="5"/>
                  </a:lnTo>
                  <a:lnTo>
                    <a:pt x="767" y="8"/>
                  </a:lnTo>
                  <a:lnTo>
                    <a:pt x="763" y="13"/>
                  </a:lnTo>
                  <a:lnTo>
                    <a:pt x="760" y="18"/>
                  </a:lnTo>
                  <a:lnTo>
                    <a:pt x="757" y="23"/>
                  </a:lnTo>
                  <a:lnTo>
                    <a:pt x="755" y="30"/>
                  </a:lnTo>
                  <a:lnTo>
                    <a:pt x="744" y="121"/>
                  </a:lnTo>
                  <a:lnTo>
                    <a:pt x="744" y="122"/>
                  </a:lnTo>
                  <a:lnTo>
                    <a:pt x="744" y="122"/>
                  </a:lnTo>
                  <a:lnTo>
                    <a:pt x="742" y="136"/>
                  </a:lnTo>
                  <a:lnTo>
                    <a:pt x="738" y="142"/>
                  </a:lnTo>
                  <a:lnTo>
                    <a:pt x="735" y="147"/>
                  </a:lnTo>
                  <a:lnTo>
                    <a:pt x="730" y="149"/>
                  </a:lnTo>
                  <a:lnTo>
                    <a:pt x="723" y="150"/>
                  </a:lnTo>
                  <a:lnTo>
                    <a:pt x="71" y="150"/>
                  </a:lnTo>
                  <a:lnTo>
                    <a:pt x="62" y="151"/>
                  </a:lnTo>
                  <a:lnTo>
                    <a:pt x="53" y="153"/>
                  </a:lnTo>
                  <a:lnTo>
                    <a:pt x="46" y="156"/>
                  </a:lnTo>
                  <a:lnTo>
                    <a:pt x="38" y="160"/>
                  </a:lnTo>
                  <a:lnTo>
                    <a:pt x="31" y="164"/>
                  </a:lnTo>
                  <a:lnTo>
                    <a:pt x="24" y="169"/>
                  </a:lnTo>
                  <a:lnTo>
                    <a:pt x="19" y="175"/>
                  </a:lnTo>
                  <a:lnTo>
                    <a:pt x="14" y="181"/>
                  </a:lnTo>
                  <a:lnTo>
                    <a:pt x="9" y="188"/>
                  </a:lnTo>
                  <a:lnTo>
                    <a:pt x="5" y="196"/>
                  </a:lnTo>
                  <a:lnTo>
                    <a:pt x="3" y="203"/>
                  </a:lnTo>
                  <a:lnTo>
                    <a:pt x="1" y="212"/>
                  </a:lnTo>
                  <a:lnTo>
                    <a:pt x="0" y="220"/>
                  </a:lnTo>
                  <a:lnTo>
                    <a:pt x="0" y="228"/>
                  </a:lnTo>
                  <a:lnTo>
                    <a:pt x="1" y="237"/>
                  </a:lnTo>
                  <a:lnTo>
                    <a:pt x="3" y="244"/>
                  </a:lnTo>
                  <a:lnTo>
                    <a:pt x="62" y="434"/>
                  </a:lnTo>
                  <a:lnTo>
                    <a:pt x="66" y="444"/>
                  </a:lnTo>
                  <a:lnTo>
                    <a:pt x="72" y="453"/>
                  </a:lnTo>
                  <a:lnTo>
                    <a:pt x="79" y="461"/>
                  </a:lnTo>
                  <a:lnTo>
                    <a:pt x="87" y="468"/>
                  </a:lnTo>
                  <a:lnTo>
                    <a:pt x="96" y="474"/>
                  </a:lnTo>
                  <a:lnTo>
                    <a:pt x="106" y="478"/>
                  </a:lnTo>
                  <a:lnTo>
                    <a:pt x="117" y="480"/>
                  </a:lnTo>
                  <a:lnTo>
                    <a:pt x="127" y="481"/>
                  </a:lnTo>
                  <a:lnTo>
                    <a:pt x="132" y="481"/>
                  </a:lnTo>
                  <a:lnTo>
                    <a:pt x="136" y="481"/>
                  </a:lnTo>
                  <a:lnTo>
                    <a:pt x="676" y="481"/>
                  </a:lnTo>
                  <a:lnTo>
                    <a:pt x="680" y="482"/>
                  </a:lnTo>
                  <a:lnTo>
                    <a:pt x="684" y="485"/>
                  </a:lnTo>
                  <a:lnTo>
                    <a:pt x="686" y="489"/>
                  </a:lnTo>
                  <a:lnTo>
                    <a:pt x="688" y="492"/>
                  </a:lnTo>
                  <a:lnTo>
                    <a:pt x="690" y="501"/>
                  </a:lnTo>
                  <a:lnTo>
                    <a:pt x="691" y="511"/>
                  </a:lnTo>
                  <a:lnTo>
                    <a:pt x="691" y="516"/>
                  </a:lnTo>
                  <a:lnTo>
                    <a:pt x="690" y="521"/>
                  </a:lnTo>
                  <a:lnTo>
                    <a:pt x="689" y="525"/>
                  </a:lnTo>
                  <a:lnTo>
                    <a:pt x="687" y="529"/>
                  </a:lnTo>
                  <a:lnTo>
                    <a:pt x="685" y="533"/>
                  </a:lnTo>
                  <a:lnTo>
                    <a:pt x="682" y="536"/>
                  </a:lnTo>
                  <a:lnTo>
                    <a:pt x="678" y="538"/>
                  </a:lnTo>
                  <a:lnTo>
                    <a:pt x="674" y="541"/>
                  </a:lnTo>
                  <a:lnTo>
                    <a:pt x="148" y="541"/>
                  </a:lnTo>
                  <a:lnTo>
                    <a:pt x="145" y="541"/>
                  </a:lnTo>
                  <a:lnTo>
                    <a:pt x="141" y="542"/>
                  </a:lnTo>
                  <a:lnTo>
                    <a:pt x="139" y="543"/>
                  </a:lnTo>
                  <a:lnTo>
                    <a:pt x="137" y="545"/>
                  </a:lnTo>
                  <a:lnTo>
                    <a:pt x="135" y="548"/>
                  </a:lnTo>
                  <a:lnTo>
                    <a:pt x="134" y="550"/>
                  </a:lnTo>
                  <a:lnTo>
                    <a:pt x="133" y="553"/>
                  </a:lnTo>
                  <a:lnTo>
                    <a:pt x="133" y="556"/>
                  </a:lnTo>
                  <a:lnTo>
                    <a:pt x="133" y="559"/>
                  </a:lnTo>
                  <a:lnTo>
                    <a:pt x="134" y="562"/>
                  </a:lnTo>
                  <a:lnTo>
                    <a:pt x="135" y="565"/>
                  </a:lnTo>
                  <a:lnTo>
                    <a:pt x="137" y="567"/>
                  </a:lnTo>
                  <a:lnTo>
                    <a:pt x="139" y="568"/>
                  </a:lnTo>
                  <a:lnTo>
                    <a:pt x="141" y="570"/>
                  </a:lnTo>
                  <a:lnTo>
                    <a:pt x="145" y="571"/>
                  </a:lnTo>
                  <a:lnTo>
                    <a:pt x="148" y="571"/>
                  </a:lnTo>
                  <a:lnTo>
                    <a:pt x="682" y="571"/>
                  </a:lnTo>
                  <a:lnTo>
                    <a:pt x="685" y="569"/>
                  </a:lnTo>
                  <a:lnTo>
                    <a:pt x="693" y="565"/>
                  </a:lnTo>
                  <a:lnTo>
                    <a:pt x="701" y="558"/>
                  </a:lnTo>
                  <a:lnTo>
                    <a:pt x="707" y="553"/>
                  </a:lnTo>
                  <a:lnTo>
                    <a:pt x="713" y="545"/>
                  </a:lnTo>
                  <a:lnTo>
                    <a:pt x="716" y="538"/>
                  </a:lnTo>
                  <a:lnTo>
                    <a:pt x="719" y="530"/>
                  </a:lnTo>
                  <a:lnTo>
                    <a:pt x="720" y="521"/>
                  </a:lnTo>
                  <a:lnTo>
                    <a:pt x="721" y="511"/>
                  </a:lnTo>
                  <a:lnTo>
                    <a:pt x="721" y="505"/>
                  </a:lnTo>
                  <a:lnTo>
                    <a:pt x="720" y="499"/>
                  </a:lnTo>
                  <a:lnTo>
                    <a:pt x="772" y="141"/>
                  </a:lnTo>
                  <a:lnTo>
                    <a:pt x="772" y="138"/>
                  </a:lnTo>
                  <a:lnTo>
                    <a:pt x="773" y="135"/>
                  </a:lnTo>
                  <a:lnTo>
                    <a:pt x="785" y="33"/>
                  </a:lnTo>
                  <a:lnTo>
                    <a:pt x="787" y="31"/>
                  </a:lnTo>
                  <a:lnTo>
                    <a:pt x="790" y="30"/>
                  </a:lnTo>
                  <a:lnTo>
                    <a:pt x="886" y="30"/>
                  </a:lnTo>
                  <a:lnTo>
                    <a:pt x="889" y="30"/>
                  </a:lnTo>
                  <a:lnTo>
                    <a:pt x="892" y="29"/>
                  </a:lnTo>
                  <a:lnTo>
                    <a:pt x="895" y="28"/>
                  </a:lnTo>
                  <a:lnTo>
                    <a:pt x="897" y="26"/>
                  </a:lnTo>
                  <a:lnTo>
                    <a:pt x="899" y="23"/>
                  </a:lnTo>
                  <a:lnTo>
                    <a:pt x="900" y="21"/>
                  </a:lnTo>
                  <a:lnTo>
                    <a:pt x="901" y="18"/>
                  </a:lnTo>
                  <a:lnTo>
                    <a:pt x="901" y="15"/>
                  </a:lnTo>
                  <a:lnTo>
                    <a:pt x="901" y="12"/>
                  </a:lnTo>
                  <a:lnTo>
                    <a:pt x="900" y="9"/>
                  </a:lnTo>
                  <a:lnTo>
                    <a:pt x="899" y="6"/>
                  </a:lnTo>
                  <a:lnTo>
                    <a:pt x="897" y="4"/>
                  </a:lnTo>
                  <a:lnTo>
                    <a:pt x="895" y="3"/>
                  </a:lnTo>
                  <a:lnTo>
                    <a:pt x="892" y="1"/>
                  </a:lnTo>
                  <a:lnTo>
                    <a:pt x="889" y="0"/>
                  </a:lnTo>
                  <a:lnTo>
                    <a:pt x="8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4138">
              <a:extLst>
                <a:ext uri="{FF2B5EF4-FFF2-40B4-BE49-F238E27FC236}">
                  <a16:creationId xmlns:a16="http://schemas.microsoft.com/office/drawing/2014/main" id="{19BF56AF-F100-47D7-B763-6CDB88A2F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4750" y="1047750"/>
              <a:ext cx="47625" cy="47625"/>
            </a:xfrm>
            <a:custGeom>
              <a:avLst/>
              <a:gdLst>
                <a:gd name="T0" fmla="*/ 68 w 150"/>
                <a:gd name="T1" fmla="*/ 0 h 150"/>
                <a:gd name="T2" fmla="*/ 53 w 150"/>
                <a:gd name="T3" fmla="*/ 3 h 150"/>
                <a:gd name="T4" fmla="*/ 39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9 w 150"/>
                <a:gd name="T11" fmla="*/ 40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9 w 150"/>
                <a:gd name="T21" fmla="*/ 111 h 150"/>
                <a:gd name="T22" fmla="*/ 17 w 150"/>
                <a:gd name="T23" fmla="*/ 122 h 150"/>
                <a:gd name="T24" fmla="*/ 27 w 150"/>
                <a:gd name="T25" fmla="*/ 133 h 150"/>
                <a:gd name="T26" fmla="*/ 39 w 150"/>
                <a:gd name="T27" fmla="*/ 142 h 150"/>
                <a:gd name="T28" fmla="*/ 53 w 150"/>
                <a:gd name="T29" fmla="*/ 147 h 150"/>
                <a:gd name="T30" fmla="*/ 68 w 150"/>
                <a:gd name="T31" fmla="*/ 150 h 150"/>
                <a:gd name="T32" fmla="*/ 83 w 150"/>
                <a:gd name="T33" fmla="*/ 150 h 150"/>
                <a:gd name="T34" fmla="*/ 97 w 150"/>
                <a:gd name="T35" fmla="*/ 147 h 150"/>
                <a:gd name="T36" fmla="*/ 111 w 150"/>
                <a:gd name="T37" fmla="*/ 142 h 150"/>
                <a:gd name="T38" fmla="*/ 122 w 150"/>
                <a:gd name="T39" fmla="*/ 133 h 150"/>
                <a:gd name="T40" fmla="*/ 133 w 150"/>
                <a:gd name="T41" fmla="*/ 122 h 150"/>
                <a:gd name="T42" fmla="*/ 141 w 150"/>
                <a:gd name="T43" fmla="*/ 111 h 150"/>
                <a:gd name="T44" fmla="*/ 147 w 150"/>
                <a:gd name="T45" fmla="*/ 98 h 150"/>
                <a:gd name="T46" fmla="*/ 149 w 150"/>
                <a:gd name="T47" fmla="*/ 83 h 150"/>
                <a:gd name="T48" fmla="*/ 149 w 150"/>
                <a:gd name="T49" fmla="*/ 68 h 150"/>
                <a:gd name="T50" fmla="*/ 147 w 150"/>
                <a:gd name="T51" fmla="*/ 53 h 150"/>
                <a:gd name="T52" fmla="*/ 141 w 150"/>
                <a:gd name="T53" fmla="*/ 40 h 150"/>
                <a:gd name="T54" fmla="*/ 133 w 150"/>
                <a:gd name="T55" fmla="*/ 27 h 150"/>
                <a:gd name="T56" fmla="*/ 122 w 150"/>
                <a:gd name="T57" fmla="*/ 17 h 150"/>
                <a:gd name="T58" fmla="*/ 111 w 150"/>
                <a:gd name="T59" fmla="*/ 9 h 150"/>
                <a:gd name="T60" fmla="*/ 97 w 150"/>
                <a:gd name="T61" fmla="*/ 3 h 150"/>
                <a:gd name="T62" fmla="*/ 83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3" y="3"/>
                  </a:lnTo>
                  <a:lnTo>
                    <a:pt x="45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40"/>
                  </a:lnTo>
                  <a:lnTo>
                    <a:pt x="5" y="46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9" y="111"/>
                  </a:lnTo>
                  <a:lnTo>
                    <a:pt x="13" y="117"/>
                  </a:lnTo>
                  <a:lnTo>
                    <a:pt x="17" y="122"/>
                  </a:lnTo>
                  <a:lnTo>
                    <a:pt x="22" y="128"/>
                  </a:lnTo>
                  <a:lnTo>
                    <a:pt x="27" y="133"/>
                  </a:lnTo>
                  <a:lnTo>
                    <a:pt x="33" y="137"/>
                  </a:lnTo>
                  <a:lnTo>
                    <a:pt x="39" y="142"/>
                  </a:lnTo>
                  <a:lnTo>
                    <a:pt x="45" y="145"/>
                  </a:lnTo>
                  <a:lnTo>
                    <a:pt x="53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5" y="150"/>
                  </a:lnTo>
                  <a:lnTo>
                    <a:pt x="83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5"/>
                  </a:lnTo>
                  <a:lnTo>
                    <a:pt x="111" y="142"/>
                  </a:lnTo>
                  <a:lnTo>
                    <a:pt x="117" y="137"/>
                  </a:lnTo>
                  <a:lnTo>
                    <a:pt x="122" y="133"/>
                  </a:lnTo>
                  <a:lnTo>
                    <a:pt x="128" y="128"/>
                  </a:lnTo>
                  <a:lnTo>
                    <a:pt x="133" y="122"/>
                  </a:lnTo>
                  <a:lnTo>
                    <a:pt x="137" y="117"/>
                  </a:lnTo>
                  <a:lnTo>
                    <a:pt x="141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49" y="83"/>
                  </a:lnTo>
                  <a:lnTo>
                    <a:pt x="150" y="75"/>
                  </a:lnTo>
                  <a:lnTo>
                    <a:pt x="149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6"/>
                  </a:lnTo>
                  <a:lnTo>
                    <a:pt x="141" y="40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8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1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3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4139">
              <a:extLst>
                <a:ext uri="{FF2B5EF4-FFF2-40B4-BE49-F238E27FC236}">
                  <a16:creationId xmlns:a16="http://schemas.microsoft.com/office/drawing/2014/main" id="{699A622B-60CB-4367-A225-15A778D10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400" y="1047750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40 w 150"/>
                <a:gd name="T5" fmla="*/ 9 h 150"/>
                <a:gd name="T6" fmla="*/ 28 w 150"/>
                <a:gd name="T7" fmla="*/ 17 h 150"/>
                <a:gd name="T8" fmla="*/ 17 w 150"/>
                <a:gd name="T9" fmla="*/ 27 h 150"/>
                <a:gd name="T10" fmla="*/ 10 w 150"/>
                <a:gd name="T11" fmla="*/ 40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10 w 150"/>
                <a:gd name="T21" fmla="*/ 111 h 150"/>
                <a:gd name="T22" fmla="*/ 17 w 150"/>
                <a:gd name="T23" fmla="*/ 122 h 150"/>
                <a:gd name="T24" fmla="*/ 28 w 150"/>
                <a:gd name="T25" fmla="*/ 133 h 150"/>
                <a:gd name="T26" fmla="*/ 40 w 150"/>
                <a:gd name="T27" fmla="*/ 142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1 w 150"/>
                <a:gd name="T37" fmla="*/ 142 h 150"/>
                <a:gd name="T38" fmla="*/ 123 w 150"/>
                <a:gd name="T39" fmla="*/ 133 h 150"/>
                <a:gd name="T40" fmla="*/ 133 w 150"/>
                <a:gd name="T41" fmla="*/ 122 h 150"/>
                <a:gd name="T42" fmla="*/ 141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1 w 150"/>
                <a:gd name="T53" fmla="*/ 40 h 150"/>
                <a:gd name="T54" fmla="*/ 133 w 150"/>
                <a:gd name="T55" fmla="*/ 27 h 150"/>
                <a:gd name="T56" fmla="*/ 123 w 150"/>
                <a:gd name="T57" fmla="*/ 17 h 150"/>
                <a:gd name="T58" fmla="*/ 111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40"/>
                  </a:lnTo>
                  <a:lnTo>
                    <a:pt x="6" y="46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6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2"/>
                  </a:lnTo>
                  <a:lnTo>
                    <a:pt x="22" y="128"/>
                  </a:lnTo>
                  <a:lnTo>
                    <a:pt x="28" y="133"/>
                  </a:lnTo>
                  <a:lnTo>
                    <a:pt x="33" y="137"/>
                  </a:lnTo>
                  <a:lnTo>
                    <a:pt x="40" y="142"/>
                  </a:lnTo>
                  <a:lnTo>
                    <a:pt x="46" y="145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5"/>
                  </a:lnTo>
                  <a:lnTo>
                    <a:pt x="111" y="142"/>
                  </a:lnTo>
                  <a:lnTo>
                    <a:pt x="117" y="137"/>
                  </a:lnTo>
                  <a:lnTo>
                    <a:pt x="123" y="133"/>
                  </a:lnTo>
                  <a:lnTo>
                    <a:pt x="128" y="128"/>
                  </a:lnTo>
                  <a:lnTo>
                    <a:pt x="133" y="122"/>
                  </a:lnTo>
                  <a:lnTo>
                    <a:pt x="137" y="117"/>
                  </a:lnTo>
                  <a:lnTo>
                    <a:pt x="141" y="111"/>
                  </a:lnTo>
                  <a:lnTo>
                    <a:pt x="145" y="104"/>
                  </a:lnTo>
                  <a:lnTo>
                    <a:pt x="147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7" y="53"/>
                  </a:lnTo>
                  <a:lnTo>
                    <a:pt x="145" y="46"/>
                  </a:lnTo>
                  <a:lnTo>
                    <a:pt x="141" y="40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8" y="22"/>
                  </a:lnTo>
                  <a:lnTo>
                    <a:pt x="123" y="17"/>
                  </a:lnTo>
                  <a:lnTo>
                    <a:pt x="117" y="13"/>
                  </a:lnTo>
                  <a:lnTo>
                    <a:pt x="111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74" y="3092876"/>
            <a:ext cx="1589399" cy="158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2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18" y="137708"/>
            <a:ext cx="10377068" cy="134000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ZA" dirty="0"/>
              <a:t>Which products generate the most revenue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3960C-A6A8-8CAC-44C9-47A5F89DC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17" y="1648691"/>
            <a:ext cx="7692256" cy="4807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8EF828-FAB1-C17A-C328-AB79C4985B07}"/>
              </a:ext>
            </a:extLst>
          </p:cNvPr>
          <p:cNvSpPr txBox="1"/>
          <p:nvPr/>
        </p:nvSpPr>
        <p:spPr>
          <a:xfrm>
            <a:off x="8963891" y="1648691"/>
            <a:ext cx="29233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Barista Espresso</a:t>
            </a:r>
            <a:r>
              <a:rPr lang="en-ZA" dirty="0"/>
              <a:t> leads at </a:t>
            </a:r>
            <a:r>
              <a:rPr lang="en-ZA" b="1" dirty="0"/>
              <a:t>R91.4K</a:t>
            </a:r>
            <a:r>
              <a:rPr lang="en-ZA" dirty="0"/>
              <a:t> (13.1%), followed by </a:t>
            </a:r>
            <a:r>
              <a:rPr lang="en-ZA" b="1" dirty="0"/>
              <a:t>Brewed Chai tea</a:t>
            </a:r>
            <a:r>
              <a:rPr lang="en-ZA" dirty="0"/>
              <a:t> (R77.1K, 11.0%) and </a:t>
            </a:r>
            <a:r>
              <a:rPr lang="en-ZA" b="1" dirty="0"/>
              <a:t>Hot chocolate</a:t>
            </a:r>
            <a:r>
              <a:rPr lang="en-ZA" dirty="0"/>
              <a:t> (R72.4K, 10.4%). Gourmet brewed coffee adds </a:t>
            </a:r>
            <a:r>
              <a:rPr lang="en-ZA" b="1" dirty="0"/>
              <a:t>R70.0K</a:t>
            </a:r>
            <a:r>
              <a:rPr lang="en-ZA" dirty="0"/>
              <a:t> (10.0%). The top 10 products collectively generate </a:t>
            </a:r>
            <a:r>
              <a:rPr lang="en-ZA" b="1" dirty="0"/>
              <a:t>$551.8K</a:t>
            </a:r>
            <a:r>
              <a:rPr lang="en-ZA" dirty="0"/>
              <a:t>, representing </a:t>
            </a:r>
            <a:r>
              <a:rPr lang="en-ZA" b="1" dirty="0"/>
              <a:t>79.0% of total revenue</a:t>
            </a:r>
            <a:r>
              <a:rPr lang="en-ZA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3E352E-12B1-ADE7-192B-64C23AE77BC4}"/>
              </a:ext>
            </a:extLst>
          </p:cNvPr>
          <p:cNvSpPr txBox="1"/>
          <p:nvPr/>
        </p:nvSpPr>
        <p:spPr>
          <a:xfrm>
            <a:off x="10584873" y="546101"/>
            <a:ext cx="5512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FD50806-BABF-4915-9689-3B9956D1C75C}" type="slidenum">
              <a:rPr lang="en-US" sz="2800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2790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AA35F-DA14-9FFF-3134-4460BC5A7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27">
            <a:extLst>
              <a:ext uri="{FF2B5EF4-FFF2-40B4-BE49-F238E27FC236}">
                <a16:creationId xmlns:a16="http://schemas.microsoft.com/office/drawing/2014/main" id="{DACDF46B-C29C-B160-016C-5C9A70BC6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18" y="137708"/>
            <a:ext cx="10377068" cy="134000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ZA" dirty="0"/>
              <a:t>What time of day the store performs best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229F1-85B7-90A9-A660-C1B86195B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18" y="1657824"/>
            <a:ext cx="7124218" cy="47669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A8F76F-B8B4-D5B6-1012-4DC40597C7EF}"/>
              </a:ext>
            </a:extLst>
          </p:cNvPr>
          <p:cNvSpPr txBox="1"/>
          <p:nvPr/>
        </p:nvSpPr>
        <p:spPr>
          <a:xfrm>
            <a:off x="8811491" y="1981200"/>
            <a:ext cx="29787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Day-of-Week Patterns</a:t>
            </a:r>
          </a:p>
          <a:p>
            <a:r>
              <a:rPr lang="en-ZA" b="1" dirty="0"/>
              <a:t>Tuesday mornings are the strongest</a:t>
            </a:r>
            <a:r>
              <a:rPr lang="en-ZA" dirty="0"/>
              <a:t> (R35.4K), followed by Friday and Sunday mornings (R33.9K and R32.9K). Weekday mornings consistently outperform weekend mornings, suggesting a strong commuter/work-day customer base.</a:t>
            </a:r>
          </a:p>
          <a:p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F04FC-12AA-2369-6825-65FC9F1CF4BE}"/>
              </a:ext>
            </a:extLst>
          </p:cNvPr>
          <p:cNvSpPr txBox="1"/>
          <p:nvPr/>
        </p:nvSpPr>
        <p:spPr>
          <a:xfrm>
            <a:off x="10584873" y="546101"/>
            <a:ext cx="5512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FD50806-BABF-4915-9689-3B9956D1C75C}" type="slidenum">
              <a:rPr lang="en-US" sz="2800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976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361E-02E6-5C99-C578-9C9D3039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27">
            <a:extLst>
              <a:ext uri="{FF2B5EF4-FFF2-40B4-BE49-F238E27FC236}">
                <a16:creationId xmlns:a16="http://schemas.microsoft.com/office/drawing/2014/main" id="{9CD1A71F-4E2C-4723-505D-CEA6FB8F8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18" y="137708"/>
            <a:ext cx="10377068" cy="134000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ZA" dirty="0"/>
              <a:t>Sales trends across products and time intervals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D7759-4517-B98B-062A-BB972694A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18" y="1620983"/>
            <a:ext cx="7925906" cy="4876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342099-0D18-1DC1-5CA7-CB6DFF5C36DF}"/>
              </a:ext>
            </a:extLst>
          </p:cNvPr>
          <p:cNvSpPr txBox="1"/>
          <p:nvPr/>
        </p:nvSpPr>
        <p:spPr>
          <a:xfrm>
            <a:off x="8963891" y="1519280"/>
            <a:ext cx="29233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Strong Upward Growth Trajectory with Accelerating Momentum</a:t>
            </a:r>
          </a:p>
          <a:p>
            <a:r>
              <a:rPr lang="en-ZA" dirty="0"/>
              <a:t>Bright Coffee Shop demonstrates </a:t>
            </a:r>
            <a:r>
              <a:rPr lang="en-ZA" b="1" dirty="0"/>
              <a:t>robust growth</a:t>
            </a:r>
            <a:r>
              <a:rPr lang="en-ZA" dirty="0"/>
              <a:t> from January through June 2023, with revenue </a:t>
            </a:r>
            <a:r>
              <a:rPr lang="en-ZA" b="1" dirty="0"/>
              <a:t>more than doubling</a:t>
            </a:r>
            <a:r>
              <a:rPr lang="en-ZA" dirty="0"/>
              <a:t> from R81.7K to R166.5K (+104% total growth). The business shows </a:t>
            </a:r>
            <a:r>
              <a:rPr lang="en-ZA" b="1" dirty="0"/>
              <a:t>accelerating momentum</a:t>
            </a:r>
            <a:r>
              <a:rPr lang="en-ZA" dirty="0"/>
              <a:t>, particularly from March onward.</a:t>
            </a:r>
          </a:p>
          <a:p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9FAFC-AA2A-C6A4-2F3E-C28F87BDAA47}"/>
              </a:ext>
            </a:extLst>
          </p:cNvPr>
          <p:cNvSpPr txBox="1"/>
          <p:nvPr/>
        </p:nvSpPr>
        <p:spPr>
          <a:xfrm>
            <a:off x="10584873" y="546101"/>
            <a:ext cx="5512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FD50806-BABF-4915-9689-3B9956D1C75C}" type="slidenum">
              <a:rPr lang="en-US" sz="2800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497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BD90C54-A1D0-46AE-811A-7FCD71C84E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5" b="28503"/>
          <a:stretch/>
        </p:blipFill>
        <p:spPr>
          <a:xfrm>
            <a:off x="6089" y="1295400"/>
            <a:ext cx="12179822" cy="5105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0653043-9706-4A8F-99E2-518CA3BA8540}"/>
              </a:ext>
            </a:extLst>
          </p:cNvPr>
          <p:cNvSpPr/>
          <p:nvPr/>
        </p:nvSpPr>
        <p:spPr>
          <a:xfrm>
            <a:off x="0" y="1295400"/>
            <a:ext cx="12192000" cy="51054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19464-7408-4CB8-9C8D-6CAE84CA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47891"/>
            <a:ext cx="10515600" cy="63312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Strategic Recommendations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1D134-7BBF-451B-A631-5F4F57AB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9828-C3DA-4597-BCE6-9ABD37A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6" name="TextBox 47">
            <a:extLst>
              <a:ext uri="{FF2B5EF4-FFF2-40B4-BE49-F238E27FC236}">
                <a16:creationId xmlns:a16="http://schemas.microsoft.com/office/drawing/2014/main" id="{ADD28621-C404-41A6-85D1-1C963A241234}"/>
              </a:ext>
            </a:extLst>
          </p:cNvPr>
          <p:cNvSpPr txBox="1"/>
          <p:nvPr/>
        </p:nvSpPr>
        <p:spPr>
          <a:xfrm>
            <a:off x="228232" y="1454727"/>
            <a:ext cx="3714563" cy="298543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chemeClr val="bg1"/>
                </a:solidFill>
              </a:rPr>
              <a:t>Growth Opportunities</a:t>
            </a:r>
          </a:p>
          <a:p>
            <a:r>
              <a:rPr lang="en-ZA" b="1" dirty="0">
                <a:solidFill>
                  <a:schemeClr val="bg1"/>
                </a:solidFill>
              </a:rPr>
              <a:t>1. Premium Beverage Focus</a:t>
            </a:r>
            <a:endParaRPr lang="en-ZA" dirty="0">
              <a:solidFill>
                <a:schemeClr val="bg1"/>
              </a:solidFill>
            </a:endParaRPr>
          </a:p>
          <a:p>
            <a:pPr lvl="0"/>
            <a:r>
              <a:rPr lang="en-ZA" dirty="0">
                <a:solidFill>
                  <a:schemeClr val="bg1"/>
                </a:solidFill>
              </a:rPr>
              <a:t>Large-size specialty drinks generate highest revenue per transaction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Expand premium hot chocolate and espresso offerings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Consider seasonal premium variants to drive average transaction value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CEDCE8FF-73B3-4C37-B751-F7E83288982A}"/>
              </a:ext>
            </a:extLst>
          </p:cNvPr>
          <p:cNvSpPr txBox="1"/>
          <p:nvPr/>
        </p:nvSpPr>
        <p:spPr>
          <a:xfrm>
            <a:off x="65314" y="4944508"/>
            <a:ext cx="4040401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12F29F0-E19B-43BF-BEF3-D4A48B394F58}"/>
              </a:ext>
            </a:extLst>
          </p:cNvPr>
          <p:cNvSpPr/>
          <p:nvPr/>
        </p:nvSpPr>
        <p:spPr>
          <a:xfrm>
            <a:off x="9709706" y="1410623"/>
            <a:ext cx="2482294" cy="3772838"/>
          </a:xfrm>
          <a:custGeom>
            <a:avLst/>
            <a:gdLst>
              <a:gd name="connsiteX0" fmla="*/ 1886419 w 2482294"/>
              <a:gd name="connsiteY0" fmla="*/ 0 h 3772838"/>
              <a:gd name="connsiteX1" fmla="*/ 2109942 w 2482294"/>
              <a:gd name="connsiteY1" fmla="*/ 92586 h 3772838"/>
              <a:gd name="connsiteX2" fmla="*/ 2482294 w 2482294"/>
              <a:gd name="connsiteY2" fmla="*/ 464938 h 3772838"/>
              <a:gd name="connsiteX3" fmla="*/ 2482294 w 2482294"/>
              <a:gd name="connsiteY3" fmla="*/ 3307900 h 3772838"/>
              <a:gd name="connsiteX4" fmla="*/ 2109942 w 2482294"/>
              <a:gd name="connsiteY4" fmla="*/ 3680252 h 3772838"/>
              <a:gd name="connsiteX5" fmla="*/ 1662896 w 2482294"/>
              <a:gd name="connsiteY5" fmla="*/ 3680252 h 3772838"/>
              <a:gd name="connsiteX6" fmla="*/ 92586 w 2482294"/>
              <a:gd name="connsiteY6" fmla="*/ 2109942 h 3772838"/>
              <a:gd name="connsiteX7" fmla="*/ 92586 w 2482294"/>
              <a:gd name="connsiteY7" fmla="*/ 1662896 h 3772838"/>
              <a:gd name="connsiteX8" fmla="*/ 1662896 w 2482294"/>
              <a:gd name="connsiteY8" fmla="*/ 92586 h 3772838"/>
              <a:gd name="connsiteX9" fmla="*/ 1886419 w 2482294"/>
              <a:gd name="connsiteY9" fmla="*/ 0 h 377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82294" h="3772838">
                <a:moveTo>
                  <a:pt x="1886419" y="0"/>
                </a:moveTo>
                <a:cubicBezTo>
                  <a:pt x="1967318" y="0"/>
                  <a:pt x="2048218" y="30862"/>
                  <a:pt x="2109942" y="92586"/>
                </a:cubicBezTo>
                <a:lnTo>
                  <a:pt x="2482294" y="464938"/>
                </a:lnTo>
                <a:lnTo>
                  <a:pt x="2482294" y="3307900"/>
                </a:lnTo>
                <a:lnTo>
                  <a:pt x="2109942" y="3680252"/>
                </a:lnTo>
                <a:cubicBezTo>
                  <a:pt x="1986494" y="3803700"/>
                  <a:pt x="1786344" y="3803700"/>
                  <a:pt x="1662896" y="3680252"/>
                </a:cubicBezTo>
                <a:lnTo>
                  <a:pt x="92586" y="2109942"/>
                </a:lnTo>
                <a:cubicBezTo>
                  <a:pt x="-30862" y="1986494"/>
                  <a:pt x="-30862" y="1786344"/>
                  <a:pt x="92586" y="1662896"/>
                </a:cubicBezTo>
                <a:lnTo>
                  <a:pt x="1662896" y="92586"/>
                </a:lnTo>
                <a:cubicBezTo>
                  <a:pt x="1724620" y="30862"/>
                  <a:pt x="1805520" y="0"/>
                  <a:pt x="1886419" y="0"/>
                </a:cubicBez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6F4CA26-D2F0-4BB4-90D9-BDD68DA84DE4}"/>
              </a:ext>
            </a:extLst>
          </p:cNvPr>
          <p:cNvSpPr/>
          <p:nvPr/>
        </p:nvSpPr>
        <p:spPr>
          <a:xfrm>
            <a:off x="0" y="4664061"/>
            <a:ext cx="747365" cy="1640222"/>
          </a:xfrm>
          <a:custGeom>
            <a:avLst/>
            <a:gdLst>
              <a:gd name="connsiteX0" fmla="*/ 0 w 747365"/>
              <a:gd name="connsiteY0" fmla="*/ 0 h 1640222"/>
              <a:gd name="connsiteX1" fmla="*/ 695927 w 747365"/>
              <a:gd name="connsiteY1" fmla="*/ 695927 h 1640222"/>
              <a:gd name="connsiteX2" fmla="*/ 695927 w 747365"/>
              <a:gd name="connsiteY2" fmla="*/ 944295 h 1640222"/>
              <a:gd name="connsiteX3" fmla="*/ 0 w 747365"/>
              <a:gd name="connsiteY3" fmla="*/ 1640222 h 1640222"/>
              <a:gd name="connsiteX4" fmla="*/ 0 w 747365"/>
              <a:gd name="connsiteY4" fmla="*/ 0 h 1640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65" h="1640222">
                <a:moveTo>
                  <a:pt x="0" y="0"/>
                </a:moveTo>
                <a:lnTo>
                  <a:pt x="695927" y="695927"/>
                </a:lnTo>
                <a:cubicBezTo>
                  <a:pt x="764512" y="764512"/>
                  <a:pt x="764512" y="875710"/>
                  <a:pt x="695927" y="944295"/>
                </a:cubicBezTo>
                <a:lnTo>
                  <a:pt x="0" y="1640222"/>
                </a:lnTo>
                <a:lnTo>
                  <a:pt x="0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291" y="1983413"/>
            <a:ext cx="3212829" cy="2539145"/>
          </a:xfrm>
          <a:prstGeom prst="rect">
            <a:avLst/>
          </a:prstGeom>
        </p:spPr>
      </p:pic>
      <p:sp>
        <p:nvSpPr>
          <p:cNvPr id="18" name="TextBox 47">
            <a:extLst>
              <a:ext uri="{FF2B5EF4-FFF2-40B4-BE49-F238E27FC236}">
                <a16:creationId xmlns:a16="http://schemas.microsoft.com/office/drawing/2014/main" id="{B8D29A16-731C-12CE-1CFD-C3803957319E}"/>
              </a:ext>
            </a:extLst>
          </p:cNvPr>
          <p:cNvSpPr txBox="1"/>
          <p:nvPr/>
        </p:nvSpPr>
        <p:spPr>
          <a:xfrm>
            <a:off x="4105715" y="1593226"/>
            <a:ext cx="3917936" cy="270843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chemeClr val="bg1"/>
                </a:solidFill>
              </a:rPr>
              <a:t>Growth Opportunities</a:t>
            </a:r>
          </a:p>
          <a:p>
            <a:r>
              <a:rPr lang="en-ZA" b="1" dirty="0">
                <a:solidFill>
                  <a:schemeClr val="bg1"/>
                </a:solidFill>
              </a:rPr>
              <a:t>2. Optimize Morning Operations</a:t>
            </a:r>
            <a:endParaRPr lang="en-ZA" dirty="0">
              <a:solidFill>
                <a:schemeClr val="bg1"/>
              </a:solidFill>
            </a:endParaRPr>
          </a:p>
          <a:p>
            <a:pPr lvl="0"/>
            <a:r>
              <a:rPr lang="en-ZA" dirty="0">
                <a:solidFill>
                  <a:schemeClr val="bg1"/>
                </a:solidFill>
              </a:rPr>
              <a:t>Ensure maximum staffing 8-10 AM to handle peak volume (17,654-18,545 transactions/hour)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Stock premium products heavily for morning rush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Consider express lanes or mobile ordering to reduce wait times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71080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A001-30BB-9DCE-28B6-A4CEB808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00385F5-34E7-6406-3A5D-13F2B2F148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5" b="28503"/>
          <a:stretch/>
        </p:blipFill>
        <p:spPr>
          <a:xfrm>
            <a:off x="6089" y="1295400"/>
            <a:ext cx="12179822" cy="5105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F2A1ED-0876-BE97-DBFA-98C1D1AD20A4}"/>
              </a:ext>
            </a:extLst>
          </p:cNvPr>
          <p:cNvSpPr/>
          <p:nvPr/>
        </p:nvSpPr>
        <p:spPr>
          <a:xfrm>
            <a:off x="0" y="1295400"/>
            <a:ext cx="12192000" cy="51054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F2BDB-F572-3EE1-C547-FA7EC96B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47891"/>
            <a:ext cx="10515600" cy="63312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Strategic Recommendations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1F7B-A096-6293-204A-7A851731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BC9EA-0740-7973-7347-2AE6BA7E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6" name="TextBox 47">
            <a:extLst>
              <a:ext uri="{FF2B5EF4-FFF2-40B4-BE49-F238E27FC236}">
                <a16:creationId xmlns:a16="http://schemas.microsoft.com/office/drawing/2014/main" id="{0212F094-93C7-8AEC-7ADE-86FD0D82BAD7}"/>
              </a:ext>
            </a:extLst>
          </p:cNvPr>
          <p:cNvSpPr txBox="1"/>
          <p:nvPr/>
        </p:nvSpPr>
        <p:spPr>
          <a:xfrm>
            <a:off x="187778" y="1490463"/>
            <a:ext cx="3714563" cy="35394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chemeClr val="bg1"/>
                </a:solidFill>
              </a:rPr>
              <a:t>Growth Opportunities</a:t>
            </a:r>
          </a:p>
          <a:p>
            <a:pPr marL="342900" indent="-342900">
              <a:buAutoNum type="arabicPeriod"/>
            </a:pPr>
            <a:r>
              <a:rPr lang="en-ZA" b="1" dirty="0">
                <a:solidFill>
                  <a:schemeClr val="bg1"/>
                </a:solidFill>
              </a:rPr>
              <a:t>Capitalize on Growth Momentum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The business is in a </a:t>
            </a:r>
            <a:r>
              <a:rPr lang="en-ZA" b="1" dirty="0">
                <a:solidFill>
                  <a:schemeClr val="bg1"/>
                </a:solidFill>
              </a:rPr>
              <a:t>high-growth phase</a:t>
            </a:r>
            <a:r>
              <a:rPr lang="en-ZA" dirty="0">
                <a:solidFill>
                  <a:schemeClr val="bg1"/>
                </a:solidFill>
              </a:rPr>
              <a:t> — invest in capacity, inventory, and staffing to support continued expansion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May's 31.8% surge suggests untapped demand; ensure operational readiness for similar spikes</a:t>
            </a:r>
          </a:p>
          <a:p>
            <a:pPr marL="342900" indent="-342900">
              <a:buAutoNum type="arabicPeriod"/>
            </a:pPr>
            <a:endParaRPr lang="en-ZA" dirty="0">
              <a:solidFill>
                <a:schemeClr val="bg1"/>
              </a:solidFill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222F2FF0-99B5-9648-0D05-B753EC64BE4E}"/>
              </a:ext>
            </a:extLst>
          </p:cNvPr>
          <p:cNvSpPr txBox="1"/>
          <p:nvPr/>
        </p:nvSpPr>
        <p:spPr>
          <a:xfrm>
            <a:off x="65314" y="4944508"/>
            <a:ext cx="4040401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45797B4-6723-3E37-50AA-8F33D29833AD}"/>
              </a:ext>
            </a:extLst>
          </p:cNvPr>
          <p:cNvSpPr/>
          <p:nvPr/>
        </p:nvSpPr>
        <p:spPr>
          <a:xfrm>
            <a:off x="9709706" y="1410623"/>
            <a:ext cx="2482294" cy="3772838"/>
          </a:xfrm>
          <a:custGeom>
            <a:avLst/>
            <a:gdLst>
              <a:gd name="connsiteX0" fmla="*/ 1886419 w 2482294"/>
              <a:gd name="connsiteY0" fmla="*/ 0 h 3772838"/>
              <a:gd name="connsiteX1" fmla="*/ 2109942 w 2482294"/>
              <a:gd name="connsiteY1" fmla="*/ 92586 h 3772838"/>
              <a:gd name="connsiteX2" fmla="*/ 2482294 w 2482294"/>
              <a:gd name="connsiteY2" fmla="*/ 464938 h 3772838"/>
              <a:gd name="connsiteX3" fmla="*/ 2482294 w 2482294"/>
              <a:gd name="connsiteY3" fmla="*/ 3307900 h 3772838"/>
              <a:gd name="connsiteX4" fmla="*/ 2109942 w 2482294"/>
              <a:gd name="connsiteY4" fmla="*/ 3680252 h 3772838"/>
              <a:gd name="connsiteX5" fmla="*/ 1662896 w 2482294"/>
              <a:gd name="connsiteY5" fmla="*/ 3680252 h 3772838"/>
              <a:gd name="connsiteX6" fmla="*/ 92586 w 2482294"/>
              <a:gd name="connsiteY6" fmla="*/ 2109942 h 3772838"/>
              <a:gd name="connsiteX7" fmla="*/ 92586 w 2482294"/>
              <a:gd name="connsiteY7" fmla="*/ 1662896 h 3772838"/>
              <a:gd name="connsiteX8" fmla="*/ 1662896 w 2482294"/>
              <a:gd name="connsiteY8" fmla="*/ 92586 h 3772838"/>
              <a:gd name="connsiteX9" fmla="*/ 1886419 w 2482294"/>
              <a:gd name="connsiteY9" fmla="*/ 0 h 377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82294" h="3772838">
                <a:moveTo>
                  <a:pt x="1886419" y="0"/>
                </a:moveTo>
                <a:cubicBezTo>
                  <a:pt x="1967318" y="0"/>
                  <a:pt x="2048218" y="30862"/>
                  <a:pt x="2109942" y="92586"/>
                </a:cubicBezTo>
                <a:lnTo>
                  <a:pt x="2482294" y="464938"/>
                </a:lnTo>
                <a:lnTo>
                  <a:pt x="2482294" y="3307900"/>
                </a:lnTo>
                <a:lnTo>
                  <a:pt x="2109942" y="3680252"/>
                </a:lnTo>
                <a:cubicBezTo>
                  <a:pt x="1986494" y="3803700"/>
                  <a:pt x="1786344" y="3803700"/>
                  <a:pt x="1662896" y="3680252"/>
                </a:cubicBezTo>
                <a:lnTo>
                  <a:pt x="92586" y="2109942"/>
                </a:lnTo>
                <a:cubicBezTo>
                  <a:pt x="-30862" y="1986494"/>
                  <a:pt x="-30862" y="1786344"/>
                  <a:pt x="92586" y="1662896"/>
                </a:cubicBezTo>
                <a:lnTo>
                  <a:pt x="1662896" y="92586"/>
                </a:lnTo>
                <a:cubicBezTo>
                  <a:pt x="1724620" y="30862"/>
                  <a:pt x="1805520" y="0"/>
                  <a:pt x="1886419" y="0"/>
                </a:cubicBez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4529BE1-0A97-82B5-09F3-F55DA4F0501B}"/>
              </a:ext>
            </a:extLst>
          </p:cNvPr>
          <p:cNvSpPr/>
          <p:nvPr/>
        </p:nvSpPr>
        <p:spPr>
          <a:xfrm>
            <a:off x="0" y="4664061"/>
            <a:ext cx="747365" cy="1640222"/>
          </a:xfrm>
          <a:custGeom>
            <a:avLst/>
            <a:gdLst>
              <a:gd name="connsiteX0" fmla="*/ 0 w 747365"/>
              <a:gd name="connsiteY0" fmla="*/ 0 h 1640222"/>
              <a:gd name="connsiteX1" fmla="*/ 695927 w 747365"/>
              <a:gd name="connsiteY1" fmla="*/ 695927 h 1640222"/>
              <a:gd name="connsiteX2" fmla="*/ 695927 w 747365"/>
              <a:gd name="connsiteY2" fmla="*/ 944295 h 1640222"/>
              <a:gd name="connsiteX3" fmla="*/ 0 w 747365"/>
              <a:gd name="connsiteY3" fmla="*/ 1640222 h 1640222"/>
              <a:gd name="connsiteX4" fmla="*/ 0 w 747365"/>
              <a:gd name="connsiteY4" fmla="*/ 0 h 1640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65" h="1640222">
                <a:moveTo>
                  <a:pt x="0" y="0"/>
                </a:moveTo>
                <a:lnTo>
                  <a:pt x="695927" y="695927"/>
                </a:lnTo>
                <a:cubicBezTo>
                  <a:pt x="764512" y="764512"/>
                  <a:pt x="764512" y="875710"/>
                  <a:pt x="695927" y="944295"/>
                </a:cubicBezTo>
                <a:lnTo>
                  <a:pt x="0" y="1640222"/>
                </a:lnTo>
                <a:lnTo>
                  <a:pt x="0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F37840-B079-185E-1B5C-4D1264BDF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291" y="1983413"/>
            <a:ext cx="3212829" cy="2539145"/>
          </a:xfrm>
          <a:prstGeom prst="rect">
            <a:avLst/>
          </a:prstGeom>
        </p:spPr>
      </p:pic>
      <p:sp>
        <p:nvSpPr>
          <p:cNvPr id="18" name="TextBox 47">
            <a:extLst>
              <a:ext uri="{FF2B5EF4-FFF2-40B4-BE49-F238E27FC236}">
                <a16:creationId xmlns:a16="http://schemas.microsoft.com/office/drawing/2014/main" id="{F5C85B4E-037B-D600-E7E6-23EED3A0FD7E}"/>
              </a:ext>
            </a:extLst>
          </p:cNvPr>
          <p:cNvSpPr txBox="1"/>
          <p:nvPr/>
        </p:nvSpPr>
        <p:spPr>
          <a:xfrm>
            <a:off x="4043848" y="1490463"/>
            <a:ext cx="3917936" cy="270843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chemeClr val="bg1"/>
                </a:solidFill>
              </a:rPr>
              <a:t>Growth Opportunities</a:t>
            </a:r>
          </a:p>
          <a:p>
            <a:r>
              <a:rPr lang="en-ZA" b="1" dirty="0">
                <a:solidFill>
                  <a:schemeClr val="bg1"/>
                </a:solidFill>
              </a:rPr>
              <a:t>2.  Address February Seasonality</a:t>
            </a:r>
            <a:endParaRPr lang="en-ZA" dirty="0">
              <a:solidFill>
                <a:schemeClr val="bg1"/>
              </a:solidFill>
            </a:endParaRPr>
          </a:p>
          <a:p>
            <a:pPr lvl="0"/>
            <a:r>
              <a:rPr lang="en-ZA" dirty="0">
                <a:solidFill>
                  <a:schemeClr val="bg1"/>
                </a:solidFill>
              </a:rPr>
              <a:t>Plan for the predictable February dip with targeted promotions or cost management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Consider Valentine's Day campaigns or winter-specific products to offset seasonal weakness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31698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7" t="9748" r="23853" b="5877"/>
          <a:stretch/>
        </p:blipFill>
        <p:spPr>
          <a:xfrm>
            <a:off x="3048000" y="1"/>
            <a:ext cx="6096000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</a:extLst>
          </p:cNvPr>
          <p:cNvSpPr/>
          <p:nvPr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5D1319-7BD4-47DE-B3DF-55B655BB34C4}"/>
              </a:ext>
            </a:extLst>
          </p:cNvPr>
          <p:cNvSpPr/>
          <p:nvPr/>
        </p:nvSpPr>
        <p:spPr>
          <a:xfrm rot="18900000">
            <a:off x="4167699" y="1500699"/>
            <a:ext cx="3856602" cy="3856602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443963" y="2274840"/>
            <a:ext cx="3304076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</a:extLst>
          </p:cNvPr>
          <p:cNvSpPr/>
          <p:nvPr/>
        </p:nvSpPr>
        <p:spPr>
          <a:xfrm rot="18900000">
            <a:off x="3681074" y="4409266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ED9FB-5603-488F-827B-05F43B91C25A}"/>
              </a:ext>
            </a:extLst>
          </p:cNvPr>
          <p:cNvSpPr/>
          <p:nvPr/>
        </p:nvSpPr>
        <p:spPr>
          <a:xfrm rot="18900000">
            <a:off x="5424287" y="621132"/>
            <a:ext cx="1343428" cy="1343428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A70618-CDC0-4C13-8EE9-54ABCDECF7CC}"/>
              </a:ext>
            </a:extLst>
          </p:cNvPr>
          <p:cNvSpPr/>
          <p:nvPr/>
        </p:nvSpPr>
        <p:spPr>
          <a:xfrm>
            <a:off x="6699988" y="5809950"/>
            <a:ext cx="2096100" cy="1048050"/>
          </a:xfrm>
          <a:custGeom>
            <a:avLst/>
            <a:gdLst>
              <a:gd name="connsiteX0" fmla="*/ 1048050 w 2096100"/>
              <a:gd name="connsiteY0" fmla="*/ 0 h 1048050"/>
              <a:gd name="connsiteX1" fmla="*/ 1172234 w 2096100"/>
              <a:gd name="connsiteY1" fmla="*/ 51439 h 1048050"/>
              <a:gd name="connsiteX2" fmla="*/ 2044661 w 2096100"/>
              <a:gd name="connsiteY2" fmla="*/ 923866 h 1048050"/>
              <a:gd name="connsiteX3" fmla="*/ 2096100 w 2096100"/>
              <a:gd name="connsiteY3" fmla="*/ 1048050 h 1048050"/>
              <a:gd name="connsiteX4" fmla="*/ 0 w 2096100"/>
              <a:gd name="connsiteY4" fmla="*/ 1048050 h 1048050"/>
              <a:gd name="connsiteX5" fmla="*/ 51439 w 2096100"/>
              <a:gd name="connsiteY5" fmla="*/ 923866 h 1048050"/>
              <a:gd name="connsiteX6" fmla="*/ 923866 w 2096100"/>
              <a:gd name="connsiteY6" fmla="*/ 51439 h 1048050"/>
              <a:gd name="connsiteX7" fmla="*/ 1048050 w 2096100"/>
              <a:gd name="connsiteY7" fmla="*/ 0 h 10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6100" h="1048050">
                <a:moveTo>
                  <a:pt x="1048050" y="0"/>
                </a:moveTo>
                <a:cubicBezTo>
                  <a:pt x="1092996" y="0"/>
                  <a:pt x="1137942" y="17146"/>
                  <a:pt x="1172234" y="51439"/>
                </a:cubicBezTo>
                <a:lnTo>
                  <a:pt x="2044661" y="923866"/>
                </a:lnTo>
                <a:cubicBezTo>
                  <a:pt x="2078954" y="958158"/>
                  <a:pt x="2096100" y="1003104"/>
                  <a:pt x="2096100" y="1048050"/>
                </a:cubicBezTo>
                <a:lnTo>
                  <a:pt x="0" y="1048050"/>
                </a:lnTo>
                <a:cubicBezTo>
                  <a:pt x="0" y="1003104"/>
                  <a:pt x="17147" y="958158"/>
                  <a:pt x="51439" y="923866"/>
                </a:cubicBezTo>
                <a:lnTo>
                  <a:pt x="923866" y="51439"/>
                </a:lnTo>
                <a:cubicBezTo>
                  <a:pt x="958159" y="17146"/>
                  <a:pt x="1003104" y="0"/>
                  <a:pt x="104805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765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10c8f44-f469-448f-bc0d-d781288ff01b}" enabled="0" method="" siteId="{e10c8f44-f469-448f-bc0d-d781288ff0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1435</TotalTime>
  <Words>386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PowerPoint Presentation</vt:lpstr>
      <vt:lpstr>Bright Coffee Shop at a Glance </vt:lpstr>
      <vt:lpstr>Bright Coffee Shop at a Glance </vt:lpstr>
      <vt:lpstr>Agenda</vt:lpstr>
      <vt:lpstr>Which products generate the most revenue</vt:lpstr>
      <vt:lpstr>What time of day the store performs best</vt:lpstr>
      <vt:lpstr>Sales trends across products and time intervals</vt:lpstr>
      <vt:lpstr>Strategic Recommendations</vt:lpstr>
      <vt:lpstr>Strategic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Jeffrey Tsoili</cp:lastModifiedBy>
  <cp:revision>204</cp:revision>
  <dcterms:created xsi:type="dcterms:W3CDTF">2018-02-12T03:40:49Z</dcterms:created>
  <dcterms:modified xsi:type="dcterms:W3CDTF">2026-10-10T00:27:45Z</dcterms:modified>
</cp:coreProperties>
</file>